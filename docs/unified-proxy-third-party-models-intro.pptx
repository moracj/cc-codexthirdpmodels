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93776"/>
            <a:ext cx="64008" cy="658368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51206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Local Proxy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1325880"/>
            <a:ext cx="6766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0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通过统一代理配置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10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Claude Code 与 Codex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10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使用第三方模型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3419856"/>
            <a:ext cx="6537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一个本机 HTTPS 入口，统一处理 Claude 槽位映射、Codex Responses API 桥接、证书信任与运行验证。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991856" y="0"/>
            <a:ext cx="4206240" cy="6858000"/>
          </a:xfrm>
          <a:prstGeom prst="rect">
            <a:avLst/>
          </a:prstGeom>
          <a:solidFill>
            <a:srgbClr val="0E2532"/>
          </a:solidFill>
          <a:ln w="12700">
            <a:solidFill>
              <a:srgbClr val="0E253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67344" y="8046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7CB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目标状态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67344" y="1335024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Claude Code</a:t>
            </a:r>
            <a:endParaRPr lang="en-US" sz="2700" dirty="0"/>
          </a:p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Codex</a:t>
            </a:r>
            <a:endParaRPr lang="en-US" sz="2700" dirty="0"/>
          </a:p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统一接入 Ark</a:t>
            </a:r>
            <a:endParaRPr lang="en-US" sz="2700" dirty="0"/>
          </a:p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第三方模型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8467344" y="3474720"/>
            <a:ext cx="2468880" cy="10973"/>
          </a:xfrm>
          <a:prstGeom prst="rect">
            <a:avLst/>
          </a:prstGeom>
          <a:solidFill>
            <a:srgbClr val="315363"/>
          </a:solidFill>
          <a:ln w="12700">
            <a:solidFill>
              <a:srgbClr val="31536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67344" y="3749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7D8D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2026-05-14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7D8D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标准方案介绍版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0352" y="6419088"/>
            <a:ext cx="11064240" cy="10973"/>
          </a:xfrm>
          <a:prstGeom prst="rect">
            <a:avLst/>
          </a:prstGeom>
          <a:solidFill>
            <a:srgbClr val="D8E2E8"/>
          </a:solidFill>
          <a:ln w="12700">
            <a:solidFill>
              <a:srgbClr val="D8E2E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651967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third-party model configuration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064240" y="647395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38912"/>
            <a:ext cx="91440" cy="91440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93192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 V A N T A G E 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0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统一代理带来的四个优势。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方案核心不是工具各自配置，而是把入口、证书、模型策略、验证口径收敛到同一个本机 HTTPS 层。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49808" y="1993392"/>
            <a:ext cx="2578608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993392"/>
            <a:ext cx="45720" cy="1207008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215798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统一入口</a:t>
            </a:r>
            <a:endParaRPr lang="en-US" sz="1360" dirty="0"/>
          </a:p>
        </p:txBody>
      </p:sp>
      <p:sp>
        <p:nvSpPr>
          <p:cNvPr id="10" name="Text 8"/>
          <p:cNvSpPr/>
          <p:nvPr/>
        </p:nvSpPr>
        <p:spPr>
          <a:xfrm>
            <a:off x="950976" y="252374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与 Codex 都指向 https://127.0.0.1:38443。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3566160" y="1993392"/>
            <a:ext cx="2578608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66160" y="1993392"/>
            <a:ext cx="45720" cy="1207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67328" y="215798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统一证书</a:t>
            </a:r>
            <a:endParaRPr lang="en-US" sz="1360" dirty="0"/>
          </a:p>
        </p:txBody>
      </p:sp>
      <p:sp>
        <p:nvSpPr>
          <p:cNvPr id="14" name="Text 12"/>
          <p:cNvSpPr/>
          <p:nvPr/>
        </p:nvSpPr>
        <p:spPr>
          <a:xfrm>
            <a:off x="3767328" y="252374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本地 CA、Keychain 信任、host loop 证书环境统一处理。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6382512" y="1993392"/>
            <a:ext cx="2578608" cy="1207008"/>
          </a:xfrm>
          <a:prstGeom prst="rect">
            <a:avLst/>
          </a:prstGeom>
          <a:solidFill>
            <a:srgbClr val="F7EFE2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82512" y="1993392"/>
            <a:ext cx="45720" cy="1207008"/>
          </a:xfrm>
          <a:prstGeom prst="rect">
            <a:avLst/>
          </a:prstGeom>
          <a:solidFill>
            <a:srgbClr val="D89135"/>
          </a:solidFill>
          <a:ln w="12700">
            <a:solidFill>
              <a:srgbClr val="D89135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215798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统一策略</a:t>
            </a:r>
            <a:endParaRPr lang="en-US" sz="1360" dirty="0"/>
          </a:p>
        </p:txBody>
      </p:sp>
      <p:sp>
        <p:nvSpPr>
          <p:cNvPr id="18" name="Text 16"/>
          <p:cNvSpPr/>
          <p:nvPr/>
        </p:nvSpPr>
        <p:spPr>
          <a:xfrm>
            <a:off x="6583680" y="252374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保留槽位映射，Codex 直接使用真实模型名。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9198864" y="1993392"/>
            <a:ext cx="2578608" cy="1207008"/>
          </a:xfrm>
          <a:prstGeom prst="rect">
            <a:avLst/>
          </a:prstGeom>
          <a:solidFill>
            <a:srgbClr val="EEF4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98864" y="1993392"/>
            <a:ext cx="45720" cy="1207008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00032" y="215798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统一验收</a:t>
            </a:r>
            <a:endParaRPr lang="en-US" sz="1360" dirty="0"/>
          </a:p>
        </p:txBody>
      </p:sp>
      <p:sp>
        <p:nvSpPr>
          <p:cNvPr id="22" name="Text 20"/>
          <p:cNvSpPr/>
          <p:nvPr/>
        </p:nvSpPr>
        <p:spPr>
          <a:xfrm>
            <a:off x="9400032" y="252374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health、代理日志、profiles、tool call 用同一套信号验证。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1865376" y="4800600"/>
            <a:ext cx="8458200" cy="310896"/>
          </a:xfrm>
          <a:prstGeom prst="rect">
            <a:avLst/>
          </a:prstGeom>
          <a:solidFill>
            <a:srgbClr val="0E2532"/>
          </a:solidFill>
          <a:ln w="12700">
            <a:solidFill>
              <a:srgbClr val="0E2532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84248" y="4873752"/>
            <a:ext cx="8220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标准能力：一个代理完成协议适配、模型路由、证书信任和运行验证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30352" y="6419088"/>
            <a:ext cx="11064240" cy="10973"/>
          </a:xfrm>
          <a:prstGeom prst="rect">
            <a:avLst/>
          </a:prstGeom>
          <a:solidFill>
            <a:srgbClr val="D8E2E8"/>
          </a:solidFill>
          <a:ln w="12700">
            <a:solidFill>
              <a:srgbClr val="D8E2E8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651967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proxy advantages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064240" y="647395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38912"/>
            <a:ext cx="91440" cy="91440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93192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 C H I T E C T U R 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8961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0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目标架构：一个 38443 入口，两条协议分支。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4617720" y="2514600"/>
            <a:ext cx="2926080" cy="1005840"/>
          </a:xfrm>
          <a:prstGeom prst="rect">
            <a:avLst/>
          </a:prstGeom>
          <a:solidFill>
            <a:srgbClr val="0E2532"/>
          </a:solidFill>
          <a:ln w="12700">
            <a:solidFill>
              <a:srgbClr val="0E253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279806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claude-local-proxy/server.js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800600" y="3749040"/>
            <a:ext cx="2514600" cy="310896"/>
          </a:xfrm>
          <a:prstGeom prst="rect">
            <a:avLst/>
          </a:prstGeom>
          <a:solidFill>
            <a:srgbClr val="EAF5F7"/>
          </a:solidFill>
          <a:ln w="12700">
            <a:solidFill>
              <a:srgbClr val="EAF5F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9472" y="3822192"/>
            <a:ext cx="2276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76B8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https://127.0.0.1:38443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31520" y="1737360"/>
            <a:ext cx="299923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1737360"/>
            <a:ext cx="45720" cy="914400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90195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</a:t>
            </a:r>
            <a:endParaRPr lang="en-US" sz="1360" dirty="0"/>
          </a:p>
        </p:txBody>
      </p:sp>
      <p:sp>
        <p:nvSpPr>
          <p:cNvPr id="13" name="Text 11"/>
          <p:cNvSpPr/>
          <p:nvPr/>
        </p:nvSpPr>
        <p:spPr>
          <a:xfrm>
            <a:off x="932688" y="2267712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/v1/messages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/v1/messages/count_tokens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731520" y="3886200"/>
            <a:ext cx="299923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886200"/>
            <a:ext cx="45720" cy="804672"/>
          </a:xfrm>
          <a:prstGeom prst="rect">
            <a:avLst/>
          </a:prstGeom>
          <a:solidFill>
            <a:srgbClr val="D89135"/>
          </a:solidFill>
          <a:ln w="12700">
            <a:solidFill>
              <a:srgbClr val="D8913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405079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Codex</a:t>
            </a:r>
            <a:endParaRPr lang="en-US" sz="1360" dirty="0"/>
          </a:p>
        </p:txBody>
      </p:sp>
      <p:sp>
        <p:nvSpPr>
          <p:cNvPr id="17" name="Text 15"/>
          <p:cNvSpPr/>
          <p:nvPr/>
        </p:nvSpPr>
        <p:spPr>
          <a:xfrm>
            <a:off x="932688" y="4416552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/v1/responses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8275320" y="1737360"/>
            <a:ext cx="3017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75320" y="1737360"/>
            <a:ext cx="45720" cy="914400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76488" y="190195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Ark coding</a:t>
            </a:r>
            <a:endParaRPr lang="en-US" sz="1360" dirty="0"/>
          </a:p>
        </p:txBody>
      </p:sp>
      <p:sp>
        <p:nvSpPr>
          <p:cNvPr id="21" name="Text 19"/>
          <p:cNvSpPr/>
          <p:nvPr/>
        </p:nvSpPr>
        <p:spPr>
          <a:xfrm>
            <a:off x="8476488" y="2267712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/api/coding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Anthropic-compatible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8275320" y="3886200"/>
            <a:ext cx="3017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75320" y="3886200"/>
            <a:ext cx="45720" cy="804672"/>
          </a:xfrm>
          <a:prstGeom prst="rect">
            <a:avLst/>
          </a:prstGeom>
          <a:solidFill>
            <a:srgbClr val="D89135"/>
          </a:solidFill>
          <a:ln w="12700">
            <a:solidFill>
              <a:srgbClr val="D8913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76488" y="40507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Ark coding v3</a:t>
            </a:r>
            <a:endParaRPr lang="en-US" sz="1360" dirty="0"/>
          </a:p>
        </p:txBody>
      </p:sp>
      <p:sp>
        <p:nvSpPr>
          <p:cNvPr id="25" name="Text 23"/>
          <p:cNvSpPr/>
          <p:nvPr/>
        </p:nvSpPr>
        <p:spPr>
          <a:xfrm>
            <a:off x="8476488" y="4416552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/chat/completions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OpenAI-compatible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3749040" y="2240280"/>
            <a:ext cx="530352" cy="22860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79392" y="2130552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607808" y="2240280"/>
            <a:ext cx="420624" cy="22860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28432" y="2130552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749040" y="4297680"/>
            <a:ext cx="530352" cy="22860"/>
          </a:xfrm>
          <a:prstGeom prst="rect">
            <a:avLst/>
          </a:prstGeom>
          <a:solidFill>
            <a:srgbClr val="D89135"/>
          </a:solidFill>
          <a:ln w="12700">
            <a:solidFill>
              <a:srgbClr val="D89135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79392" y="4187952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891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607808" y="4297680"/>
            <a:ext cx="420624" cy="22860"/>
          </a:xfrm>
          <a:prstGeom prst="rect">
            <a:avLst/>
          </a:prstGeom>
          <a:solidFill>
            <a:srgbClr val="D89135"/>
          </a:solidFill>
          <a:ln w="12700">
            <a:solidFill>
              <a:srgbClr val="D89135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28432" y="4187952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891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626864" y="18105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Claude：透传 + 槽位映射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334256" y="471830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Codex：Responses -&gt; Chat -&gt; Responses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30352" y="6419088"/>
            <a:ext cx="11064240" cy="10973"/>
          </a:xfrm>
          <a:prstGeom prst="rect">
            <a:avLst/>
          </a:prstGeom>
          <a:solidFill>
            <a:srgbClr val="D8E2E8"/>
          </a:solidFill>
          <a:ln w="12700">
            <a:solidFill>
              <a:srgbClr val="D8E2E8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" y="651967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architecture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1064240" y="647395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38912"/>
            <a:ext cx="91440" cy="91440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93192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 T T P 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0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本机 HTTPS 和证书信任是成败关键。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713232" y="1828800"/>
            <a:ext cx="33832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828800"/>
            <a:ext cx="45720" cy="98755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933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证书生成</a:t>
            </a:r>
            <a:endParaRPr lang="en-US" sz="1360" dirty="0"/>
          </a:p>
        </p:txBody>
      </p:sp>
      <p:sp>
        <p:nvSpPr>
          <p:cNvPr id="9" name="Text 7"/>
          <p:cNvSpPr/>
          <p:nvPr/>
        </p:nvSpPr>
        <p:spPr>
          <a:xfrm>
            <a:off x="914400" y="2359152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本地 CA + server certificate；SAN 包含 127.0.0.1、localhost、::1。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407408" y="1828800"/>
            <a:ext cx="33832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07408" y="1828800"/>
            <a:ext cx="45720" cy="9875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08576" y="19933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Keychain 信任</a:t>
            </a:r>
            <a:endParaRPr lang="en-US" sz="1360" dirty="0"/>
          </a:p>
        </p:txBody>
      </p:sp>
      <p:sp>
        <p:nvSpPr>
          <p:cNvPr id="13" name="Text 11"/>
          <p:cNvSpPr/>
          <p:nvPr/>
        </p:nvSpPr>
        <p:spPr>
          <a:xfrm>
            <a:off x="4608576" y="2359152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Desktop/Electron 不等同于 shell，不能只依赖 curl --cacert。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8101584" y="1828800"/>
            <a:ext cx="33832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01584" y="1828800"/>
            <a:ext cx="45720" cy="987552"/>
          </a:xfrm>
          <a:prstGeom prst="rect">
            <a:avLst/>
          </a:prstGeom>
          <a:solidFill>
            <a:srgbClr val="D89135"/>
          </a:solidFill>
          <a:ln w="12700">
            <a:solidFill>
              <a:srgbClr val="D8913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02752" y="19933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Cowork 兜底</a:t>
            </a:r>
            <a:endParaRPr lang="en-US" sz="1360" dirty="0"/>
          </a:p>
        </p:txBody>
      </p:sp>
      <p:sp>
        <p:nvSpPr>
          <p:cNvPr id="17" name="Text 15"/>
          <p:cNvSpPr/>
          <p:nvPr/>
        </p:nvSpPr>
        <p:spPr>
          <a:xfrm>
            <a:off x="8302752" y="2359152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host loop 环境不完整时，用 launcher 注入 NODE_EXTRA_CA_CERTS。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1078992" y="3840480"/>
            <a:ext cx="10012680" cy="1097280"/>
          </a:xfrm>
          <a:prstGeom prst="rect">
            <a:avLst/>
          </a:prstGeom>
          <a:solidFill>
            <a:srgbClr val="0E2532"/>
          </a:solidFill>
          <a:ln w="12700">
            <a:solidFill>
              <a:srgbClr val="0E2532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44752" y="413308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判断原则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706624" y="415137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7E6E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普通 curl https://127.0.0.1:38443/health 能成功，是系统信任链足够的关键证据。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30352" y="6419088"/>
            <a:ext cx="11064240" cy="10973"/>
          </a:xfrm>
          <a:prstGeom prst="rect">
            <a:avLst/>
          </a:prstGeom>
          <a:solidFill>
            <a:srgbClr val="D8E2E8"/>
          </a:solidFill>
          <a:ln w="12700">
            <a:solidFill>
              <a:srgbClr val="D8E2E8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651967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HTTPS and trust chain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064240" y="647395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38912"/>
            <a:ext cx="91440" cy="91440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93192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R O X 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0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统一代理需要实现四个能力。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85800" y="2121408"/>
            <a:ext cx="23317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23957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16152" y="243230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健康检查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50392" y="2980944"/>
            <a:ext cx="1883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/health 返回 upstream、codexUpstream、模型映射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0" y="2121408"/>
            <a:ext cx="23317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9312" y="23957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005072" y="243230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透传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639312" y="2980944"/>
            <a:ext cx="1883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转发 Anthropic-compatible 请求，透传认证头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63640" y="2121408"/>
            <a:ext cx="23317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8232" y="23957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793992" y="243230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模型映射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28232" y="2980944"/>
            <a:ext cx="1883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opus/sonnet/haiku -&gt; glm/kimi/doubao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052560" y="2121408"/>
            <a:ext cx="2331720" cy="1874520"/>
          </a:xfrm>
          <a:prstGeom prst="rect">
            <a:avLst/>
          </a:prstGeom>
          <a:solidFill>
            <a:srgbClr val="F7EFE2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17152" y="23957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891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582912" y="243230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Codex 桥接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217152" y="2980944"/>
            <a:ext cx="1883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Responses API -&gt; Chat Completions -&gt; Responses API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67712" y="4983480"/>
            <a:ext cx="7662672" cy="310896"/>
          </a:xfrm>
          <a:prstGeom prst="rect">
            <a:avLst/>
          </a:prstGeom>
          <a:solidFill>
            <a:srgbClr val="0E2532"/>
          </a:solidFill>
          <a:ln w="12700">
            <a:solidFill>
              <a:srgbClr val="0E2532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86584" y="5056632"/>
            <a:ext cx="7424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API key 不写死在代理代码中，由客户端配置或环境变量提供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0352" y="6419088"/>
            <a:ext cx="11064240" cy="10973"/>
          </a:xfrm>
          <a:prstGeom prst="rect">
            <a:avLst/>
          </a:prstGeom>
          <a:solidFill>
            <a:srgbClr val="D8E2E8"/>
          </a:solidFill>
          <a:ln w="12700">
            <a:solidFill>
              <a:srgbClr val="D8E2E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651967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Proxy capability checklist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064240" y="647395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38912"/>
            <a:ext cx="91440" cy="91440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93192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 O D E L 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0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模型策略：Claude 映射，Codex 真实模型名。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66928" y="1700784"/>
            <a:ext cx="1828800" cy="484632"/>
          </a:xfrm>
          <a:prstGeom prst="rect">
            <a:avLst/>
          </a:prstGeom>
          <a:solidFill>
            <a:srgbClr val="EAF5F7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73936"/>
            <a:ext cx="16824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工具/配置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395728" y="1700784"/>
            <a:ext cx="2743200" cy="484632"/>
          </a:xfrm>
          <a:prstGeom prst="rect">
            <a:avLst/>
          </a:prstGeom>
          <a:solidFill>
            <a:srgbClr val="EAF5F7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1773936"/>
            <a:ext cx="25968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客户端模型名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138928" y="1700784"/>
            <a:ext cx="2331720" cy="484632"/>
          </a:xfrm>
          <a:prstGeom prst="rect">
            <a:avLst/>
          </a:prstGeom>
          <a:solidFill>
            <a:srgbClr val="EAF5F7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0" y="1773936"/>
            <a:ext cx="21854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实际上游模型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470648" y="1700784"/>
            <a:ext cx="1325880" cy="484632"/>
          </a:xfrm>
          <a:prstGeom prst="rect">
            <a:avLst/>
          </a:prstGeom>
          <a:solidFill>
            <a:srgbClr val="EAF5F7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43800" y="1773936"/>
            <a:ext cx="11795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策略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796528" y="1700784"/>
            <a:ext cx="2057400" cy="484632"/>
          </a:xfrm>
          <a:prstGeom prst="rect">
            <a:avLst/>
          </a:prstGeom>
          <a:solidFill>
            <a:srgbClr val="EAF5F7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0" y="1773936"/>
            <a:ext cx="19110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用途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66928" y="2185416"/>
            <a:ext cx="1828800" cy="484632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258568"/>
            <a:ext cx="16824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</a:t>
            </a:r>
            <a:endParaRPr lang="en-US" sz="790" dirty="0"/>
          </a:p>
        </p:txBody>
      </p:sp>
      <p:sp>
        <p:nvSpPr>
          <p:cNvPr id="18" name="Shape 16"/>
          <p:cNvSpPr/>
          <p:nvPr/>
        </p:nvSpPr>
        <p:spPr>
          <a:xfrm>
            <a:off x="2395728" y="2185416"/>
            <a:ext cx="2743200" cy="484632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0" y="2258568"/>
            <a:ext cx="25968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claude-opus-4-6</a:t>
            </a:r>
            <a:endParaRPr lang="en-US" sz="790" dirty="0"/>
          </a:p>
        </p:txBody>
      </p:sp>
      <p:sp>
        <p:nvSpPr>
          <p:cNvPr id="20" name="Shape 18"/>
          <p:cNvSpPr/>
          <p:nvPr/>
        </p:nvSpPr>
        <p:spPr>
          <a:xfrm>
            <a:off x="5138928" y="2185416"/>
            <a:ext cx="2331720" cy="484632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2258568"/>
            <a:ext cx="21854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glm-5.1</a:t>
            </a:r>
            <a:endParaRPr lang="en-US" sz="790" dirty="0"/>
          </a:p>
        </p:txBody>
      </p:sp>
      <p:sp>
        <p:nvSpPr>
          <p:cNvPr id="22" name="Shape 20"/>
          <p:cNvSpPr/>
          <p:nvPr/>
        </p:nvSpPr>
        <p:spPr>
          <a:xfrm>
            <a:off x="7470648" y="2185416"/>
            <a:ext cx="1325880" cy="484632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43800" y="2258568"/>
            <a:ext cx="11795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代理映射</a:t>
            </a:r>
            <a:endParaRPr lang="en-US" sz="790" dirty="0"/>
          </a:p>
        </p:txBody>
      </p:sp>
      <p:sp>
        <p:nvSpPr>
          <p:cNvPr id="24" name="Shape 22"/>
          <p:cNvSpPr/>
          <p:nvPr/>
        </p:nvSpPr>
        <p:spPr>
          <a:xfrm>
            <a:off x="8796528" y="2185416"/>
            <a:ext cx="2057400" cy="484632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0" y="2258568"/>
            <a:ext cx="19110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复杂推理</a:t>
            </a:r>
            <a:endParaRPr lang="en-US" sz="790" dirty="0"/>
          </a:p>
        </p:txBody>
      </p:sp>
      <p:sp>
        <p:nvSpPr>
          <p:cNvPr id="26" name="Shape 24"/>
          <p:cNvSpPr/>
          <p:nvPr/>
        </p:nvSpPr>
        <p:spPr>
          <a:xfrm>
            <a:off x="566928" y="2670048"/>
            <a:ext cx="1828800" cy="484632"/>
          </a:xfrm>
          <a:prstGeom prst="rect">
            <a:avLst/>
          </a:prstGeom>
          <a:solidFill>
            <a:srgbClr val="F2F7F9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2743200"/>
            <a:ext cx="16824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</a:t>
            </a:r>
            <a:endParaRPr lang="en-US" sz="790" dirty="0"/>
          </a:p>
        </p:txBody>
      </p:sp>
      <p:sp>
        <p:nvSpPr>
          <p:cNvPr id="28" name="Shape 26"/>
          <p:cNvSpPr/>
          <p:nvPr/>
        </p:nvSpPr>
        <p:spPr>
          <a:xfrm>
            <a:off x="2395728" y="2670048"/>
            <a:ext cx="2743200" cy="484632"/>
          </a:xfrm>
          <a:prstGeom prst="rect">
            <a:avLst/>
          </a:prstGeom>
          <a:solidFill>
            <a:srgbClr val="F2F7F9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68880" y="2743200"/>
            <a:ext cx="25968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claude-sonnet-4-6</a:t>
            </a:r>
            <a:endParaRPr lang="en-US" sz="790" dirty="0"/>
          </a:p>
        </p:txBody>
      </p:sp>
      <p:sp>
        <p:nvSpPr>
          <p:cNvPr id="30" name="Shape 28"/>
          <p:cNvSpPr/>
          <p:nvPr/>
        </p:nvSpPr>
        <p:spPr>
          <a:xfrm>
            <a:off x="5138928" y="2670048"/>
            <a:ext cx="2331720" cy="484632"/>
          </a:xfrm>
          <a:prstGeom prst="rect">
            <a:avLst/>
          </a:prstGeom>
          <a:solidFill>
            <a:srgbClr val="F2F7F9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12080" y="2743200"/>
            <a:ext cx="21854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kimi-k2.6</a:t>
            </a:r>
            <a:endParaRPr lang="en-US" sz="790" dirty="0"/>
          </a:p>
        </p:txBody>
      </p:sp>
      <p:sp>
        <p:nvSpPr>
          <p:cNvPr id="32" name="Shape 30"/>
          <p:cNvSpPr/>
          <p:nvPr/>
        </p:nvSpPr>
        <p:spPr>
          <a:xfrm>
            <a:off x="7470648" y="2670048"/>
            <a:ext cx="1325880" cy="484632"/>
          </a:xfrm>
          <a:prstGeom prst="rect">
            <a:avLst/>
          </a:prstGeom>
          <a:solidFill>
            <a:srgbClr val="F2F7F9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43800" y="2743200"/>
            <a:ext cx="11795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代理映射</a:t>
            </a:r>
            <a:endParaRPr lang="en-US" sz="790" dirty="0"/>
          </a:p>
        </p:txBody>
      </p:sp>
      <p:sp>
        <p:nvSpPr>
          <p:cNvPr id="34" name="Shape 32"/>
          <p:cNvSpPr/>
          <p:nvPr/>
        </p:nvSpPr>
        <p:spPr>
          <a:xfrm>
            <a:off x="8796528" y="2670048"/>
            <a:ext cx="2057400" cy="484632"/>
          </a:xfrm>
          <a:prstGeom prst="rect">
            <a:avLst/>
          </a:prstGeom>
          <a:solidFill>
            <a:srgbClr val="F2F7F9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869680" y="2743200"/>
            <a:ext cx="19110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默认主力</a:t>
            </a:r>
            <a:endParaRPr lang="en-US" sz="790" dirty="0"/>
          </a:p>
        </p:txBody>
      </p:sp>
      <p:sp>
        <p:nvSpPr>
          <p:cNvPr id="36" name="Shape 34"/>
          <p:cNvSpPr/>
          <p:nvPr/>
        </p:nvSpPr>
        <p:spPr>
          <a:xfrm>
            <a:off x="566928" y="3154680"/>
            <a:ext cx="1828800" cy="484632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3227832"/>
            <a:ext cx="16824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</a:t>
            </a:r>
            <a:endParaRPr lang="en-US" sz="790" dirty="0"/>
          </a:p>
        </p:txBody>
      </p:sp>
      <p:sp>
        <p:nvSpPr>
          <p:cNvPr id="38" name="Shape 36"/>
          <p:cNvSpPr/>
          <p:nvPr/>
        </p:nvSpPr>
        <p:spPr>
          <a:xfrm>
            <a:off x="2395728" y="3154680"/>
            <a:ext cx="2743200" cy="484632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68880" y="3227832"/>
            <a:ext cx="25968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claude-haiku-4-5</a:t>
            </a:r>
            <a:endParaRPr lang="en-US" sz="790" dirty="0"/>
          </a:p>
        </p:txBody>
      </p:sp>
      <p:sp>
        <p:nvSpPr>
          <p:cNvPr id="40" name="Shape 38"/>
          <p:cNvSpPr/>
          <p:nvPr/>
        </p:nvSpPr>
        <p:spPr>
          <a:xfrm>
            <a:off x="5138928" y="3154680"/>
            <a:ext cx="2331720" cy="484632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12080" y="3227832"/>
            <a:ext cx="21854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doubao-seed-2.0-pro</a:t>
            </a:r>
            <a:endParaRPr lang="en-US" sz="790" dirty="0"/>
          </a:p>
        </p:txBody>
      </p:sp>
      <p:sp>
        <p:nvSpPr>
          <p:cNvPr id="42" name="Shape 40"/>
          <p:cNvSpPr/>
          <p:nvPr/>
        </p:nvSpPr>
        <p:spPr>
          <a:xfrm>
            <a:off x="7470648" y="3154680"/>
            <a:ext cx="1325880" cy="484632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43800" y="3227832"/>
            <a:ext cx="11795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代理映射</a:t>
            </a:r>
            <a:endParaRPr lang="en-US" sz="790" dirty="0"/>
          </a:p>
        </p:txBody>
      </p:sp>
      <p:sp>
        <p:nvSpPr>
          <p:cNvPr id="44" name="Shape 42"/>
          <p:cNvSpPr/>
          <p:nvPr/>
        </p:nvSpPr>
        <p:spPr>
          <a:xfrm>
            <a:off x="8796528" y="3154680"/>
            <a:ext cx="2057400" cy="484632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869680" y="3227832"/>
            <a:ext cx="19110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快速任务</a:t>
            </a:r>
            <a:endParaRPr lang="en-US" sz="790" dirty="0"/>
          </a:p>
        </p:txBody>
      </p:sp>
      <p:sp>
        <p:nvSpPr>
          <p:cNvPr id="46" name="Shape 44"/>
          <p:cNvSpPr/>
          <p:nvPr/>
        </p:nvSpPr>
        <p:spPr>
          <a:xfrm>
            <a:off x="566928" y="3639312"/>
            <a:ext cx="1828800" cy="484632"/>
          </a:xfrm>
          <a:prstGeom prst="rect">
            <a:avLst/>
          </a:prstGeom>
          <a:solidFill>
            <a:srgbClr val="F2F7F9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3712464"/>
            <a:ext cx="16824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Codex ark-doubao</a:t>
            </a:r>
            <a:endParaRPr lang="en-US" sz="790" dirty="0"/>
          </a:p>
        </p:txBody>
      </p:sp>
      <p:sp>
        <p:nvSpPr>
          <p:cNvPr id="48" name="Shape 46"/>
          <p:cNvSpPr/>
          <p:nvPr/>
        </p:nvSpPr>
        <p:spPr>
          <a:xfrm>
            <a:off x="2395728" y="3639312"/>
            <a:ext cx="2743200" cy="484632"/>
          </a:xfrm>
          <a:prstGeom prst="rect">
            <a:avLst/>
          </a:prstGeom>
          <a:solidFill>
            <a:srgbClr val="F2F7F9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468880" y="3712464"/>
            <a:ext cx="25968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doubao-seed-2.0-pro</a:t>
            </a:r>
            <a:endParaRPr lang="en-US" sz="790" dirty="0"/>
          </a:p>
        </p:txBody>
      </p:sp>
      <p:sp>
        <p:nvSpPr>
          <p:cNvPr id="50" name="Shape 48"/>
          <p:cNvSpPr/>
          <p:nvPr/>
        </p:nvSpPr>
        <p:spPr>
          <a:xfrm>
            <a:off x="5138928" y="3639312"/>
            <a:ext cx="2331720" cy="484632"/>
          </a:xfrm>
          <a:prstGeom prst="rect">
            <a:avLst/>
          </a:prstGeom>
          <a:solidFill>
            <a:srgbClr val="F2F7F9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12080" y="3712464"/>
            <a:ext cx="21854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doubao-seed-2.0-pro</a:t>
            </a:r>
            <a:endParaRPr lang="en-US" sz="790" dirty="0"/>
          </a:p>
        </p:txBody>
      </p:sp>
      <p:sp>
        <p:nvSpPr>
          <p:cNvPr id="52" name="Shape 50"/>
          <p:cNvSpPr/>
          <p:nvPr/>
        </p:nvSpPr>
        <p:spPr>
          <a:xfrm>
            <a:off x="7470648" y="3639312"/>
            <a:ext cx="1325880" cy="484632"/>
          </a:xfrm>
          <a:prstGeom prst="rect">
            <a:avLst/>
          </a:prstGeom>
          <a:solidFill>
            <a:srgbClr val="F2F7F9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43800" y="3712464"/>
            <a:ext cx="11795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真实模型</a:t>
            </a:r>
            <a:endParaRPr lang="en-US" sz="790" dirty="0"/>
          </a:p>
        </p:txBody>
      </p:sp>
      <p:sp>
        <p:nvSpPr>
          <p:cNvPr id="54" name="Shape 52"/>
          <p:cNvSpPr/>
          <p:nvPr/>
        </p:nvSpPr>
        <p:spPr>
          <a:xfrm>
            <a:off x="8796528" y="3639312"/>
            <a:ext cx="2057400" cy="484632"/>
          </a:xfrm>
          <a:prstGeom prst="rect">
            <a:avLst/>
          </a:prstGeom>
          <a:solidFill>
            <a:srgbClr val="F2F7F9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869680" y="3712464"/>
            <a:ext cx="19110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默认/快速</a:t>
            </a:r>
            <a:endParaRPr lang="en-US" sz="790" dirty="0"/>
          </a:p>
        </p:txBody>
      </p:sp>
      <p:sp>
        <p:nvSpPr>
          <p:cNvPr id="56" name="Shape 54"/>
          <p:cNvSpPr/>
          <p:nvPr/>
        </p:nvSpPr>
        <p:spPr>
          <a:xfrm>
            <a:off x="566928" y="4123944"/>
            <a:ext cx="1828800" cy="484632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0080" y="4197096"/>
            <a:ext cx="16824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Codex ark-kimi</a:t>
            </a:r>
            <a:endParaRPr lang="en-US" sz="790" dirty="0"/>
          </a:p>
        </p:txBody>
      </p:sp>
      <p:sp>
        <p:nvSpPr>
          <p:cNvPr id="58" name="Shape 56"/>
          <p:cNvSpPr/>
          <p:nvPr/>
        </p:nvSpPr>
        <p:spPr>
          <a:xfrm>
            <a:off x="2395728" y="4123944"/>
            <a:ext cx="2743200" cy="484632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468880" y="4197096"/>
            <a:ext cx="25968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kimi-k2.6</a:t>
            </a:r>
            <a:endParaRPr lang="en-US" sz="790" dirty="0"/>
          </a:p>
        </p:txBody>
      </p:sp>
      <p:sp>
        <p:nvSpPr>
          <p:cNvPr id="60" name="Shape 58"/>
          <p:cNvSpPr/>
          <p:nvPr/>
        </p:nvSpPr>
        <p:spPr>
          <a:xfrm>
            <a:off x="5138928" y="4123944"/>
            <a:ext cx="2331720" cy="484632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212080" y="4197096"/>
            <a:ext cx="21854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kimi-k2.6</a:t>
            </a:r>
            <a:endParaRPr lang="en-US" sz="790" dirty="0"/>
          </a:p>
        </p:txBody>
      </p:sp>
      <p:sp>
        <p:nvSpPr>
          <p:cNvPr id="62" name="Shape 60"/>
          <p:cNvSpPr/>
          <p:nvPr/>
        </p:nvSpPr>
        <p:spPr>
          <a:xfrm>
            <a:off x="7470648" y="4123944"/>
            <a:ext cx="1325880" cy="484632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543800" y="4197096"/>
            <a:ext cx="11795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真实模型</a:t>
            </a:r>
            <a:endParaRPr lang="en-US" sz="790" dirty="0"/>
          </a:p>
        </p:txBody>
      </p:sp>
      <p:sp>
        <p:nvSpPr>
          <p:cNvPr id="64" name="Shape 62"/>
          <p:cNvSpPr/>
          <p:nvPr/>
        </p:nvSpPr>
        <p:spPr>
          <a:xfrm>
            <a:off x="8796528" y="4123944"/>
            <a:ext cx="2057400" cy="484632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869680" y="4197096"/>
            <a:ext cx="19110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复杂编码</a:t>
            </a:r>
            <a:endParaRPr lang="en-US" sz="790" dirty="0"/>
          </a:p>
        </p:txBody>
      </p:sp>
      <p:sp>
        <p:nvSpPr>
          <p:cNvPr id="66" name="Shape 64"/>
          <p:cNvSpPr/>
          <p:nvPr/>
        </p:nvSpPr>
        <p:spPr>
          <a:xfrm>
            <a:off x="566928" y="4608576"/>
            <a:ext cx="1828800" cy="484632"/>
          </a:xfrm>
          <a:prstGeom prst="rect">
            <a:avLst/>
          </a:prstGeom>
          <a:solidFill>
            <a:srgbClr val="F2F7F9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4681728"/>
            <a:ext cx="16824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Codex ark-glm</a:t>
            </a:r>
            <a:endParaRPr lang="en-US" sz="790" dirty="0"/>
          </a:p>
        </p:txBody>
      </p:sp>
      <p:sp>
        <p:nvSpPr>
          <p:cNvPr id="68" name="Shape 66"/>
          <p:cNvSpPr/>
          <p:nvPr/>
        </p:nvSpPr>
        <p:spPr>
          <a:xfrm>
            <a:off x="2395728" y="4608576"/>
            <a:ext cx="2743200" cy="484632"/>
          </a:xfrm>
          <a:prstGeom prst="rect">
            <a:avLst/>
          </a:prstGeom>
          <a:solidFill>
            <a:srgbClr val="F2F7F9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468880" y="4681728"/>
            <a:ext cx="25968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glm-5.1</a:t>
            </a:r>
            <a:endParaRPr lang="en-US" sz="790" dirty="0"/>
          </a:p>
        </p:txBody>
      </p:sp>
      <p:sp>
        <p:nvSpPr>
          <p:cNvPr id="70" name="Shape 68"/>
          <p:cNvSpPr/>
          <p:nvPr/>
        </p:nvSpPr>
        <p:spPr>
          <a:xfrm>
            <a:off x="5138928" y="4608576"/>
            <a:ext cx="2331720" cy="484632"/>
          </a:xfrm>
          <a:prstGeom prst="rect">
            <a:avLst/>
          </a:prstGeom>
          <a:solidFill>
            <a:srgbClr val="F2F7F9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212080" y="4681728"/>
            <a:ext cx="21854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glm-5.1</a:t>
            </a:r>
            <a:endParaRPr lang="en-US" sz="790" dirty="0"/>
          </a:p>
        </p:txBody>
      </p:sp>
      <p:sp>
        <p:nvSpPr>
          <p:cNvPr id="72" name="Shape 70"/>
          <p:cNvSpPr/>
          <p:nvPr/>
        </p:nvSpPr>
        <p:spPr>
          <a:xfrm>
            <a:off x="7470648" y="4608576"/>
            <a:ext cx="1325880" cy="484632"/>
          </a:xfrm>
          <a:prstGeom prst="rect">
            <a:avLst/>
          </a:prstGeom>
          <a:solidFill>
            <a:srgbClr val="F2F7F9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543800" y="4681728"/>
            <a:ext cx="11795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真实模型</a:t>
            </a:r>
            <a:endParaRPr lang="en-US" sz="790" dirty="0"/>
          </a:p>
        </p:txBody>
      </p:sp>
      <p:sp>
        <p:nvSpPr>
          <p:cNvPr id="74" name="Shape 72"/>
          <p:cNvSpPr/>
          <p:nvPr/>
        </p:nvSpPr>
        <p:spPr>
          <a:xfrm>
            <a:off x="8796528" y="4608576"/>
            <a:ext cx="2057400" cy="484632"/>
          </a:xfrm>
          <a:prstGeom prst="rect">
            <a:avLst/>
          </a:prstGeom>
          <a:solidFill>
            <a:srgbClr val="F2F7F9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869680" y="4681728"/>
            <a:ext cx="19110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高质量推理</a:t>
            </a:r>
            <a:endParaRPr lang="en-US" sz="790" dirty="0"/>
          </a:p>
        </p:txBody>
      </p:sp>
      <p:sp>
        <p:nvSpPr>
          <p:cNvPr id="76" name="Shape 74"/>
          <p:cNvSpPr/>
          <p:nvPr/>
        </p:nvSpPr>
        <p:spPr>
          <a:xfrm>
            <a:off x="530352" y="6419088"/>
            <a:ext cx="11064240" cy="10973"/>
          </a:xfrm>
          <a:prstGeom prst="rect">
            <a:avLst/>
          </a:prstGeom>
          <a:solidFill>
            <a:srgbClr val="D8E2E8"/>
          </a:solidFill>
          <a:ln w="12700">
            <a:solidFill>
              <a:srgbClr val="D8E2E8">
                <a:alpha val="0"/>
              </a:srgbClr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30352" y="651967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naming strategy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11064240" y="647395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38912"/>
            <a:ext cx="91440" cy="91440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93192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 L A U D 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0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Claude Code 配置重点：保留槽位名。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713232" y="1755648"/>
            <a:ext cx="5074920" cy="3291840"/>
          </a:xfrm>
          <a:prstGeom prst="rect">
            <a:avLst/>
          </a:prstGeom>
          <a:solidFill>
            <a:srgbClr val="0E2532"/>
          </a:solidFill>
          <a:ln w="12700">
            <a:solidFill>
              <a:srgbClr val="0E253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029968"/>
            <a:ext cx="45262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"ANTHROPIC_BASE_URL": "https://127.0.0.1:38443"</a:t>
            </a:r>
            <a:endParaRPr lang="en-US" sz="1070" dirty="0"/>
          </a:p>
          <a:p>
            <a:pPr algn="l"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"ANTHROPIC_AUTH_TOKEN": "&lt;ARK_API_KEY&gt;"</a:t>
            </a:r>
            <a:endParaRPr lang="en-US" sz="1070" dirty="0"/>
          </a:p>
          <a:p>
            <a:pPr algn="l"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"ANTHROPIC_DEFAULT_OPUS_MODEL": "claude-opus-4-6"</a:t>
            </a:r>
            <a:endParaRPr lang="en-US" sz="1070" dirty="0"/>
          </a:p>
          <a:p>
            <a:pPr algn="l"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"ANTHROPIC_DEFAULT_SONNET_MODEL": "claude-sonnet-4-6"</a:t>
            </a:r>
            <a:endParaRPr lang="en-US" sz="1070" dirty="0"/>
          </a:p>
          <a:p>
            <a:pPr algn="l"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"ANTHROPIC_DEFAULT_HAIKU_MODEL": "claude-haiku-4-5"</a:t>
            </a:r>
            <a:endParaRPr lang="en-US" sz="1070" dirty="0"/>
          </a:p>
          <a:p>
            <a:pPr algn="l"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"NODE_EXTRA_CA_CERTS": "&lt;PROJECT_ROOT&gt;/certs/ca.crt"</a:t>
            </a:r>
            <a:endParaRPr lang="en-US" sz="1070" dirty="0"/>
          </a:p>
        </p:txBody>
      </p:sp>
      <p:sp>
        <p:nvSpPr>
          <p:cNvPr id="8" name="Shape 6"/>
          <p:cNvSpPr/>
          <p:nvPr/>
        </p:nvSpPr>
        <p:spPr>
          <a:xfrm>
            <a:off x="6400800" y="1828800"/>
            <a:ext cx="41605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828800"/>
            <a:ext cx="45720" cy="786384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01968" y="199339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Desktop 3P Gateway</a:t>
            </a:r>
            <a:endParaRPr lang="en-US" sz="1360" dirty="0"/>
          </a:p>
        </p:txBody>
      </p:sp>
      <p:sp>
        <p:nvSpPr>
          <p:cNvPr id="11" name="Text 9"/>
          <p:cNvSpPr/>
          <p:nvPr/>
        </p:nvSpPr>
        <p:spPr>
          <a:xfrm>
            <a:off x="6601968" y="2359152"/>
            <a:ext cx="3776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gatewayBaseUrl 指向 38443；inferenceModels 写 Claude 槽位。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400800" y="2816352"/>
            <a:ext cx="41605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2816352"/>
            <a:ext cx="45720" cy="78638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01968" y="298094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CLI / host settings</a:t>
            </a:r>
            <a:endParaRPr lang="en-US" sz="1360" dirty="0"/>
          </a:p>
        </p:txBody>
      </p:sp>
      <p:sp>
        <p:nvSpPr>
          <p:cNvPr id="15" name="Text 13"/>
          <p:cNvSpPr/>
          <p:nvPr/>
        </p:nvSpPr>
        <p:spPr>
          <a:xfrm>
            <a:off x="6601968" y="3346704"/>
            <a:ext cx="3776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删除 ANTHROPIC_MODEL 和 modelOverrides，避免双重映射。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6400800" y="3803904"/>
            <a:ext cx="41605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3803904"/>
            <a:ext cx="45720" cy="786384"/>
          </a:xfrm>
          <a:prstGeom prst="rect">
            <a:avLst/>
          </a:prstGeom>
          <a:solidFill>
            <a:srgbClr val="D89135"/>
          </a:solidFill>
          <a:ln w="12700">
            <a:solidFill>
              <a:srgbClr val="D89135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01968" y="396849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Cowork</a:t>
            </a:r>
            <a:endParaRPr lang="en-US" sz="1360" dirty="0"/>
          </a:p>
        </p:txBody>
      </p:sp>
      <p:sp>
        <p:nvSpPr>
          <p:cNvPr id="19" name="Text 17"/>
          <p:cNvSpPr/>
          <p:nvPr/>
        </p:nvSpPr>
        <p:spPr>
          <a:xfrm>
            <a:off x="6601968" y="4334256"/>
            <a:ext cx="3776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证书失败时用 launcher 注入 CA 环境。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530352" y="6419088"/>
            <a:ext cx="11064240" cy="10973"/>
          </a:xfrm>
          <a:prstGeom prst="rect">
            <a:avLst/>
          </a:prstGeom>
          <a:solidFill>
            <a:srgbClr val="D8E2E8"/>
          </a:solidFill>
          <a:ln w="12700">
            <a:solidFill>
              <a:srgbClr val="D8E2E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651967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Claude Code configuration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064240" y="647395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38912"/>
            <a:ext cx="91440" cy="91440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93192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 O D E X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0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Codex 配置重点：provider + profiles。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713232" y="1737360"/>
            <a:ext cx="5715000" cy="3383280"/>
          </a:xfrm>
          <a:prstGeom prst="rect">
            <a:avLst/>
          </a:prstGeom>
          <a:solidFill>
            <a:srgbClr val="0E2532"/>
          </a:solidFill>
          <a:ln w="12700">
            <a:solidFill>
              <a:srgbClr val="0E253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029968"/>
            <a:ext cx="5166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model_provider = "ark-coding"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model = "doubao-seed-2.0-pro"</a:t>
            </a:r>
            <a:endParaRPr lang="en-US" sz="1120" dirty="0"/>
          </a:p>
          <a:p>
            <a:pPr algn="l" indent="0" marL="0">
              <a:buNone/>
            </a:pP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[model_providers.ark-coding]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wire_api = "responses"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base_url = "https://127.0.0.1:38443/v1"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requires_openai_auth = true</a:t>
            </a:r>
            <a:endParaRPr lang="en-US" sz="1120" dirty="0"/>
          </a:p>
          <a:p>
            <a:pPr algn="l" indent="0" marL="0">
              <a:buNone/>
            </a:pP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[profiles.ark-kimi]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model = "kimi-k2.6"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7059168" y="1874520"/>
            <a:ext cx="382219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59168" y="1874520"/>
            <a:ext cx="45720" cy="786384"/>
          </a:xfrm>
          <a:prstGeom prst="rect">
            <a:avLst/>
          </a:prstGeom>
          <a:solidFill>
            <a:srgbClr val="D89135"/>
          </a:solidFill>
          <a:ln w="12700">
            <a:solidFill>
              <a:srgbClr val="D89135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60336" y="2039112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默认</a:t>
            </a:r>
            <a:endParaRPr lang="en-US" sz="1360" dirty="0"/>
          </a:p>
        </p:txBody>
      </p:sp>
      <p:sp>
        <p:nvSpPr>
          <p:cNvPr id="11" name="Text 9"/>
          <p:cNvSpPr/>
          <p:nvPr/>
        </p:nvSpPr>
        <p:spPr>
          <a:xfrm>
            <a:off x="7260336" y="2404872"/>
            <a:ext cx="3438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doubao-seed-2.0-pro，medium reasoning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7059168" y="2907792"/>
            <a:ext cx="382219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59168" y="2907792"/>
            <a:ext cx="45720" cy="78638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60336" y="3072384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</a:t>
            </a:r>
            <a:endParaRPr lang="en-US" sz="1360" dirty="0"/>
          </a:p>
        </p:txBody>
      </p:sp>
      <p:sp>
        <p:nvSpPr>
          <p:cNvPr id="15" name="Text 13"/>
          <p:cNvSpPr/>
          <p:nvPr/>
        </p:nvSpPr>
        <p:spPr>
          <a:xfrm>
            <a:off x="7260336" y="3438144"/>
            <a:ext cx="3438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ark-kimi -&gt; kimi-k2.6，high reasoning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7059168" y="3941064"/>
            <a:ext cx="382219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59168" y="3941064"/>
            <a:ext cx="45720" cy="786384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60336" y="4105656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推理</a:t>
            </a:r>
            <a:endParaRPr lang="en-US" sz="1360" dirty="0"/>
          </a:p>
        </p:txBody>
      </p:sp>
      <p:sp>
        <p:nvSpPr>
          <p:cNvPr id="19" name="Text 17"/>
          <p:cNvSpPr/>
          <p:nvPr/>
        </p:nvSpPr>
        <p:spPr>
          <a:xfrm>
            <a:off x="7260336" y="4471416"/>
            <a:ext cx="3438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ark-glm -&gt; glm-5.1，high reasoning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1901952" y="5632704"/>
            <a:ext cx="8183880" cy="310896"/>
          </a:xfrm>
          <a:prstGeom prst="rect">
            <a:avLst/>
          </a:prstGeom>
          <a:solidFill>
            <a:srgbClr val="EAF5F7"/>
          </a:solidFill>
          <a:ln w="12700">
            <a:solidFill>
              <a:srgbClr val="EAF5F7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20824" y="5705856"/>
            <a:ext cx="7946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76B8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运行：codex -p ark-doubao / ark-kimi / ark-glm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0352" y="6419088"/>
            <a:ext cx="11064240" cy="10973"/>
          </a:xfrm>
          <a:prstGeom prst="rect">
            <a:avLst/>
          </a:prstGeom>
          <a:solidFill>
            <a:srgbClr val="D8E2E8"/>
          </a:solidFill>
          <a:ln w="12700">
            <a:solidFill>
              <a:srgbClr val="D8E2E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651967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provider profiles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064240" y="647395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38912"/>
            <a:ext cx="91440" cy="91440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93192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 O D E X   A P 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Codex App 切模型：默认配置或启动覆盖。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36192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CLI 支持 -p profile；App 启动入口更适合用 ~/.codex/config.toml 顶层默认值或 codex app -c 覆盖。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49808" y="1993392"/>
            <a:ext cx="31546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993392"/>
            <a:ext cx="45720" cy="98755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215798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CLI 临时切换</a:t>
            </a:r>
            <a:endParaRPr lang="en-US" sz="1360" dirty="0"/>
          </a:p>
        </p:txBody>
      </p:sp>
      <p:sp>
        <p:nvSpPr>
          <p:cNvPr id="10" name="Text 8"/>
          <p:cNvSpPr/>
          <p:nvPr/>
        </p:nvSpPr>
        <p:spPr>
          <a:xfrm>
            <a:off x="950976" y="2523744"/>
            <a:ext cx="2770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codex -p ark-kimi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codex -p ark-glm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4462272" y="1993392"/>
            <a:ext cx="31546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62272" y="1993392"/>
            <a:ext cx="45720" cy="9875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15798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App 默认切换</a:t>
            </a:r>
            <a:endParaRPr lang="en-US" sz="1360" dirty="0"/>
          </a:p>
        </p:txBody>
      </p:sp>
      <p:sp>
        <p:nvSpPr>
          <p:cNvPr id="14" name="Text 12"/>
          <p:cNvSpPr/>
          <p:nvPr/>
        </p:nvSpPr>
        <p:spPr>
          <a:xfrm>
            <a:off x="4663440" y="2523744"/>
            <a:ext cx="2770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修改 ~/.codex/config.toml 顶层 model，重启 App 或新开会话。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8174736" y="1993392"/>
            <a:ext cx="3154680" cy="987552"/>
          </a:xfrm>
          <a:prstGeom prst="rect">
            <a:avLst/>
          </a:prstGeom>
          <a:solidFill>
            <a:srgbClr val="F7EFE2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74736" y="1993392"/>
            <a:ext cx="45720" cy="987552"/>
          </a:xfrm>
          <a:prstGeom prst="rect">
            <a:avLst/>
          </a:prstGeom>
          <a:solidFill>
            <a:srgbClr val="D89135"/>
          </a:solidFill>
          <a:ln w="12700">
            <a:solidFill>
              <a:srgbClr val="D89135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75904" y="215798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App 启动覆盖</a:t>
            </a:r>
            <a:endParaRPr lang="en-US" sz="1360" dirty="0"/>
          </a:p>
        </p:txBody>
      </p:sp>
      <p:sp>
        <p:nvSpPr>
          <p:cNvPr id="18" name="Text 16"/>
          <p:cNvSpPr/>
          <p:nvPr/>
        </p:nvSpPr>
        <p:spPr>
          <a:xfrm>
            <a:off x="8375904" y="2523744"/>
            <a:ext cx="2770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codex app /path -c 'model="kimi-k2.6"' ...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914400" y="3730752"/>
            <a:ext cx="10287000" cy="1243584"/>
          </a:xfrm>
          <a:prstGeom prst="rect">
            <a:avLst/>
          </a:prstGeom>
          <a:solidFill>
            <a:srgbClr val="0E2532"/>
          </a:solidFill>
          <a:ln w="12700">
            <a:solidFill>
              <a:srgbClr val="0E2532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25296" y="3968496"/>
            <a:ext cx="6949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codex app /path/to/project \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-c 'model_provider="ark-coding"' \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-c 'model="kimi-k2.6"' \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-c 'model_reasoning_effort="high"'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8458200" y="395020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7E6E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验证信号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58200" y="4334256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D7E6E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代理日志出现</a:t>
            </a: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D7E6E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codex responses model</a:t>
            </a: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D7E6E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kimi-k2.6 -&gt; kimi-k2.6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2084832" y="5596128"/>
            <a:ext cx="8046720" cy="310896"/>
          </a:xfrm>
          <a:prstGeom prst="rect">
            <a:avLst/>
          </a:prstGeom>
          <a:solidFill>
            <a:srgbClr val="EAF5F7"/>
          </a:solidFill>
          <a:ln w="12700">
            <a:solidFill>
              <a:srgbClr val="EAF5F7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03704" y="5669280"/>
            <a:ext cx="7808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76B8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当前已打开会话不保证热切换；稳定验证请重启 App 或新开 workspace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30352" y="6419088"/>
            <a:ext cx="11064240" cy="10973"/>
          </a:xfrm>
          <a:prstGeom prst="rect">
            <a:avLst/>
          </a:prstGeom>
          <a:solidFill>
            <a:srgbClr val="D8E2E8"/>
          </a:solidFill>
          <a:ln w="12700">
            <a:solidFill>
              <a:srgbClr val="D8E2E8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651967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App model switching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064240" y="647395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38912"/>
            <a:ext cx="91440" cy="91440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93192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 A L I D A T I O 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8961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0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验收矩阵：不要只看 UI，要看行为信号。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58368" y="1645920"/>
            <a:ext cx="2011680" cy="512064"/>
          </a:xfrm>
          <a:prstGeom prst="rect">
            <a:avLst/>
          </a:prstGeom>
          <a:solidFill>
            <a:srgbClr val="EAF5F7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19072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检查项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670048" y="1645920"/>
            <a:ext cx="6263640" cy="512064"/>
          </a:xfrm>
          <a:prstGeom prst="rect">
            <a:avLst/>
          </a:prstGeom>
          <a:solidFill>
            <a:srgbClr val="EAF5F7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1719072"/>
            <a:ext cx="6117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成功信号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8933688" y="1645920"/>
            <a:ext cx="1234440" cy="512064"/>
          </a:xfrm>
          <a:prstGeom prst="rect">
            <a:avLst/>
          </a:prstGeom>
          <a:solidFill>
            <a:srgbClr val="EAF5F7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06840" y="1719072"/>
            <a:ext cx="1088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状态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" y="2157984"/>
            <a:ext cx="201168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231136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端口</a:t>
            </a:r>
            <a:endParaRPr lang="en-US" sz="790" dirty="0"/>
          </a:p>
        </p:txBody>
      </p:sp>
      <p:sp>
        <p:nvSpPr>
          <p:cNvPr id="14" name="Shape 12"/>
          <p:cNvSpPr/>
          <p:nvPr/>
        </p:nvSpPr>
        <p:spPr>
          <a:xfrm>
            <a:off x="2670048" y="2157984"/>
            <a:ext cx="626364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2231136"/>
            <a:ext cx="6117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38443 LISTEN；旧 38444 不监听</a:t>
            </a:r>
            <a:endParaRPr lang="en-US" sz="790" dirty="0"/>
          </a:p>
        </p:txBody>
      </p:sp>
      <p:sp>
        <p:nvSpPr>
          <p:cNvPr id="16" name="Shape 14"/>
          <p:cNvSpPr/>
          <p:nvPr/>
        </p:nvSpPr>
        <p:spPr>
          <a:xfrm>
            <a:off x="8933688" y="2157984"/>
            <a:ext cx="123444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06840" y="2231136"/>
            <a:ext cx="1088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OK</a:t>
            </a:r>
            <a:endParaRPr lang="en-US" sz="790" dirty="0"/>
          </a:p>
        </p:txBody>
      </p:sp>
      <p:sp>
        <p:nvSpPr>
          <p:cNvPr id="18" name="Shape 16"/>
          <p:cNvSpPr/>
          <p:nvPr/>
        </p:nvSpPr>
        <p:spPr>
          <a:xfrm>
            <a:off x="658368" y="2670048"/>
            <a:ext cx="2011680" cy="512064"/>
          </a:xfrm>
          <a:prstGeom prst="rect">
            <a:avLst/>
          </a:prstGeom>
          <a:solidFill>
            <a:srgbClr val="F2F7F9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743200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健康检查</a:t>
            </a:r>
            <a:endParaRPr lang="en-US" sz="790" dirty="0"/>
          </a:p>
        </p:txBody>
      </p:sp>
      <p:sp>
        <p:nvSpPr>
          <p:cNvPr id="20" name="Shape 18"/>
          <p:cNvSpPr/>
          <p:nvPr/>
        </p:nvSpPr>
        <p:spPr>
          <a:xfrm>
            <a:off x="2670048" y="2670048"/>
            <a:ext cx="6263640" cy="512064"/>
          </a:xfrm>
          <a:prstGeom prst="rect">
            <a:avLst/>
          </a:prstGeom>
          <a:solidFill>
            <a:srgbClr val="F2F7F9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0" y="2743200"/>
            <a:ext cx="6117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/health 返回 ok、upstream、codexUpstream、模型字段</a:t>
            </a:r>
            <a:endParaRPr lang="en-US" sz="790" dirty="0"/>
          </a:p>
        </p:txBody>
      </p:sp>
      <p:sp>
        <p:nvSpPr>
          <p:cNvPr id="22" name="Shape 20"/>
          <p:cNvSpPr/>
          <p:nvPr/>
        </p:nvSpPr>
        <p:spPr>
          <a:xfrm>
            <a:off x="8933688" y="2670048"/>
            <a:ext cx="1234440" cy="512064"/>
          </a:xfrm>
          <a:prstGeom prst="rect">
            <a:avLst/>
          </a:prstGeom>
          <a:solidFill>
            <a:srgbClr val="F2F7F9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06840" y="2743200"/>
            <a:ext cx="1088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OK</a:t>
            </a:r>
            <a:endParaRPr lang="en-US" sz="790" dirty="0"/>
          </a:p>
        </p:txBody>
      </p:sp>
      <p:sp>
        <p:nvSpPr>
          <p:cNvPr id="24" name="Shape 22"/>
          <p:cNvSpPr/>
          <p:nvPr/>
        </p:nvSpPr>
        <p:spPr>
          <a:xfrm>
            <a:off x="658368" y="3182112"/>
            <a:ext cx="201168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255264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Desktop</a:t>
            </a:r>
            <a:endParaRPr lang="en-US" sz="790" dirty="0"/>
          </a:p>
        </p:txBody>
      </p:sp>
      <p:sp>
        <p:nvSpPr>
          <p:cNvPr id="26" name="Shape 24"/>
          <p:cNvSpPr/>
          <p:nvPr/>
        </p:nvSpPr>
        <p:spPr>
          <a:xfrm>
            <a:off x="2670048" y="3182112"/>
            <a:ext cx="626364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3255264"/>
            <a:ext cx="6117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ConfigHealth recomputed { state: 'healthy', provider: 'gateway' }</a:t>
            </a:r>
            <a:endParaRPr lang="en-US" sz="790" dirty="0"/>
          </a:p>
        </p:txBody>
      </p:sp>
      <p:sp>
        <p:nvSpPr>
          <p:cNvPr id="28" name="Shape 26"/>
          <p:cNvSpPr/>
          <p:nvPr/>
        </p:nvSpPr>
        <p:spPr>
          <a:xfrm>
            <a:off x="8933688" y="3182112"/>
            <a:ext cx="123444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06840" y="3255264"/>
            <a:ext cx="1088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OK</a:t>
            </a:r>
            <a:endParaRPr lang="en-US" sz="790" dirty="0"/>
          </a:p>
        </p:txBody>
      </p:sp>
      <p:sp>
        <p:nvSpPr>
          <p:cNvPr id="30" name="Shape 28"/>
          <p:cNvSpPr/>
          <p:nvPr/>
        </p:nvSpPr>
        <p:spPr>
          <a:xfrm>
            <a:off x="658368" y="3694176"/>
            <a:ext cx="2011680" cy="512064"/>
          </a:xfrm>
          <a:prstGeom prst="rect">
            <a:avLst/>
          </a:prstGeom>
          <a:solidFill>
            <a:srgbClr val="F2F7F9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3767328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请求</a:t>
            </a:r>
            <a:endParaRPr lang="en-US" sz="790" dirty="0"/>
          </a:p>
        </p:txBody>
      </p:sp>
      <p:sp>
        <p:nvSpPr>
          <p:cNvPr id="32" name="Shape 30"/>
          <p:cNvSpPr/>
          <p:nvPr/>
        </p:nvSpPr>
        <p:spPr>
          <a:xfrm>
            <a:off x="2670048" y="3694176"/>
            <a:ext cx="6263640" cy="512064"/>
          </a:xfrm>
          <a:prstGeom prst="rect">
            <a:avLst/>
          </a:prstGeom>
          <a:solidFill>
            <a:srgbClr val="F2F7F9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0" y="3767328"/>
            <a:ext cx="6117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POST /v1/messages -&gt; 200；映射日志可见</a:t>
            </a:r>
            <a:endParaRPr lang="en-US" sz="790" dirty="0"/>
          </a:p>
        </p:txBody>
      </p:sp>
      <p:sp>
        <p:nvSpPr>
          <p:cNvPr id="34" name="Shape 32"/>
          <p:cNvSpPr/>
          <p:nvPr/>
        </p:nvSpPr>
        <p:spPr>
          <a:xfrm>
            <a:off x="8933688" y="3694176"/>
            <a:ext cx="1234440" cy="512064"/>
          </a:xfrm>
          <a:prstGeom prst="rect">
            <a:avLst/>
          </a:prstGeom>
          <a:solidFill>
            <a:srgbClr val="F2F7F9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06840" y="3767328"/>
            <a:ext cx="1088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OK</a:t>
            </a:r>
            <a:endParaRPr lang="en-US" sz="790" dirty="0"/>
          </a:p>
        </p:txBody>
      </p:sp>
      <p:sp>
        <p:nvSpPr>
          <p:cNvPr id="36" name="Shape 34"/>
          <p:cNvSpPr/>
          <p:nvPr/>
        </p:nvSpPr>
        <p:spPr>
          <a:xfrm>
            <a:off x="658368" y="4206240"/>
            <a:ext cx="201168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4279392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Codex profiles</a:t>
            </a:r>
            <a:endParaRPr lang="en-US" sz="790" dirty="0"/>
          </a:p>
        </p:txBody>
      </p:sp>
      <p:sp>
        <p:nvSpPr>
          <p:cNvPr id="38" name="Shape 36"/>
          <p:cNvSpPr/>
          <p:nvPr/>
        </p:nvSpPr>
        <p:spPr>
          <a:xfrm>
            <a:off x="2670048" y="4206240"/>
            <a:ext cx="626364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0" y="4279392"/>
            <a:ext cx="6117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ark-doubao / ark-kimi / ark-glm 均可回复</a:t>
            </a:r>
            <a:endParaRPr lang="en-US" sz="790" dirty="0"/>
          </a:p>
        </p:txBody>
      </p:sp>
      <p:sp>
        <p:nvSpPr>
          <p:cNvPr id="40" name="Shape 38"/>
          <p:cNvSpPr/>
          <p:nvPr/>
        </p:nvSpPr>
        <p:spPr>
          <a:xfrm>
            <a:off x="8933688" y="4206240"/>
            <a:ext cx="123444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006840" y="4279392"/>
            <a:ext cx="1088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OK</a:t>
            </a:r>
            <a:endParaRPr lang="en-US" sz="790" dirty="0"/>
          </a:p>
        </p:txBody>
      </p:sp>
      <p:sp>
        <p:nvSpPr>
          <p:cNvPr id="42" name="Shape 40"/>
          <p:cNvSpPr/>
          <p:nvPr/>
        </p:nvSpPr>
        <p:spPr>
          <a:xfrm>
            <a:off x="658368" y="4718304"/>
            <a:ext cx="2011680" cy="512064"/>
          </a:xfrm>
          <a:prstGeom prst="rect">
            <a:avLst/>
          </a:prstGeom>
          <a:solidFill>
            <a:srgbClr val="F2F7F9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1520" y="4791456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Tool call</a:t>
            </a:r>
            <a:endParaRPr lang="en-US" sz="790" dirty="0"/>
          </a:p>
        </p:txBody>
      </p:sp>
      <p:sp>
        <p:nvSpPr>
          <p:cNvPr id="44" name="Shape 42"/>
          <p:cNvSpPr/>
          <p:nvPr/>
        </p:nvSpPr>
        <p:spPr>
          <a:xfrm>
            <a:off x="2670048" y="4718304"/>
            <a:ext cx="6263640" cy="512064"/>
          </a:xfrm>
          <a:prstGeom prst="rect">
            <a:avLst/>
          </a:prstGeom>
          <a:solidFill>
            <a:srgbClr val="F2F7F9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0" y="4791456"/>
            <a:ext cx="6117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function_call 与 function_call_output 闭环正常</a:t>
            </a:r>
            <a:endParaRPr lang="en-US" sz="790" dirty="0"/>
          </a:p>
        </p:txBody>
      </p:sp>
      <p:sp>
        <p:nvSpPr>
          <p:cNvPr id="46" name="Shape 44"/>
          <p:cNvSpPr/>
          <p:nvPr/>
        </p:nvSpPr>
        <p:spPr>
          <a:xfrm>
            <a:off x="8933688" y="4718304"/>
            <a:ext cx="1234440" cy="512064"/>
          </a:xfrm>
          <a:prstGeom prst="rect">
            <a:avLst/>
          </a:prstGeom>
          <a:solidFill>
            <a:srgbClr val="F2F7F9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006840" y="4791456"/>
            <a:ext cx="1088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OK</a:t>
            </a:r>
            <a:endParaRPr lang="en-US" sz="790" dirty="0"/>
          </a:p>
        </p:txBody>
      </p:sp>
      <p:sp>
        <p:nvSpPr>
          <p:cNvPr id="48" name="Shape 46"/>
          <p:cNvSpPr/>
          <p:nvPr/>
        </p:nvSpPr>
        <p:spPr>
          <a:xfrm>
            <a:off x="530352" y="6419088"/>
            <a:ext cx="11064240" cy="10973"/>
          </a:xfrm>
          <a:prstGeom prst="rect">
            <a:avLst/>
          </a:prstGeom>
          <a:solidFill>
            <a:srgbClr val="D8E2E8"/>
          </a:solidFill>
          <a:ln w="12700">
            <a:solidFill>
              <a:srgbClr val="D8E2E8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0352" y="651967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matrix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1064240" y="647395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38912"/>
            <a:ext cx="91440" cy="91440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93192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P E R A T I O N 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0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运维流程：进程、端口、日志、配置、回滚。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822960" y="1719072"/>
            <a:ext cx="512064" cy="402336"/>
          </a:xfrm>
          <a:prstGeom prst="rect">
            <a:avLst/>
          </a:prstGeom>
          <a:solidFill>
            <a:srgbClr val="0E2532"/>
          </a:solidFill>
          <a:ln w="12700">
            <a:solidFill>
              <a:srgbClr val="0E253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181051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72768" y="17556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进程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88920" y="1783080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60717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launchctl print / kickstart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822960" y="2377440"/>
            <a:ext cx="512064" cy="402336"/>
          </a:xfrm>
          <a:prstGeom prst="rect">
            <a:avLst/>
          </a:prstGeom>
          <a:solidFill>
            <a:srgbClr val="EAF5F7"/>
          </a:solidFill>
          <a:ln w="12700">
            <a:solidFill>
              <a:srgbClr val="EAF5F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2468880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72768" y="24140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端口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88920" y="2441448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60717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lsof -nP -iTCP:38443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822960" y="3035808"/>
            <a:ext cx="512064" cy="402336"/>
          </a:xfrm>
          <a:prstGeom prst="rect">
            <a:avLst/>
          </a:prstGeom>
          <a:solidFill>
            <a:srgbClr val="0E2532"/>
          </a:solidFill>
          <a:ln w="12700">
            <a:solidFill>
              <a:srgbClr val="0E253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3127248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72768" y="30723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健康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88920" y="3099816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60717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curl -sk https://127.0.0.1:38443/health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822960" y="3694176"/>
            <a:ext cx="512064" cy="402336"/>
          </a:xfrm>
          <a:prstGeom prst="rect">
            <a:avLst/>
          </a:prstGeom>
          <a:solidFill>
            <a:srgbClr val="EAF5F7"/>
          </a:solidFill>
          <a:ln w="12700">
            <a:solidFill>
              <a:srgbClr val="EAF5F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9264" y="3785616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72768" y="37307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日志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88920" y="3758184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60717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proxy.log / proxy.err.log / Claude main.log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822960" y="4352544"/>
            <a:ext cx="512064" cy="402336"/>
          </a:xfrm>
          <a:prstGeom prst="rect">
            <a:avLst/>
          </a:prstGeom>
          <a:solidFill>
            <a:srgbClr val="0E2532"/>
          </a:solidFill>
          <a:ln w="12700">
            <a:solidFill>
              <a:srgbClr val="0E2532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9264" y="4443984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72768" y="43891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回滚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788920" y="4416552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60717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恢复 server.js 与配置备份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7315200" y="1719072"/>
            <a:ext cx="35661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26096" y="197510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故障优先级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626096" y="2487168"/>
            <a:ext cx="2743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 health 是否通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 证书是否被系统信任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 请求是否进入正确分支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4. Authorization 是否存在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5. tool call 转换是否完整</a:t>
            </a:r>
            <a:endParaRPr lang="en-US" sz="1180" dirty="0"/>
          </a:p>
        </p:txBody>
      </p:sp>
      <p:sp>
        <p:nvSpPr>
          <p:cNvPr id="29" name="Shape 27"/>
          <p:cNvSpPr/>
          <p:nvPr/>
        </p:nvSpPr>
        <p:spPr>
          <a:xfrm>
            <a:off x="530352" y="6419088"/>
            <a:ext cx="11064240" cy="10973"/>
          </a:xfrm>
          <a:prstGeom prst="rect">
            <a:avLst/>
          </a:prstGeom>
          <a:solidFill>
            <a:srgbClr val="D8E2E8"/>
          </a:solidFill>
          <a:ln w="12700">
            <a:solidFill>
              <a:srgbClr val="D8E2E8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651967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troubleshooting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064240" y="647395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38912"/>
            <a:ext cx="91440" cy="91440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93192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 E C U R I T 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0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安全边界：材料可分享，密钥不进材料。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749808" y="1828800"/>
            <a:ext cx="3127248" cy="1024128"/>
          </a:xfrm>
          <a:prstGeom prst="rect">
            <a:avLst/>
          </a:prstGeom>
          <a:solidFill>
            <a:srgbClr val="FCEEEE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828800"/>
            <a:ext cx="45720" cy="1024128"/>
          </a:xfrm>
          <a:prstGeom prst="rect">
            <a:avLst/>
          </a:prstGeom>
          <a:solidFill>
            <a:srgbClr val="C94A4A"/>
          </a:solidFill>
          <a:ln w="12700">
            <a:solidFill>
              <a:srgbClr val="C94A4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1993392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密钥</a:t>
            </a:r>
            <a:endParaRPr lang="en-US" sz="1360" dirty="0"/>
          </a:p>
        </p:txBody>
      </p:sp>
      <p:sp>
        <p:nvSpPr>
          <p:cNvPr id="9" name="Text 7"/>
          <p:cNvSpPr/>
          <p:nvPr/>
        </p:nvSpPr>
        <p:spPr>
          <a:xfrm>
            <a:off x="950976" y="235915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 API key 只进入本机配置或环境变量，文档统一使用占位符。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443984" y="1828800"/>
            <a:ext cx="3127248" cy="1024128"/>
          </a:xfrm>
          <a:prstGeom prst="rect">
            <a:avLst/>
          </a:prstGeom>
          <a:solidFill>
            <a:srgbClr val="F7EFE2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43984" y="1828800"/>
            <a:ext cx="45720" cy="1024128"/>
          </a:xfrm>
          <a:prstGeom prst="rect">
            <a:avLst/>
          </a:prstGeom>
          <a:solidFill>
            <a:srgbClr val="D89135"/>
          </a:solidFill>
          <a:ln w="12700">
            <a:solidFill>
              <a:srgbClr val="D8913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5152" y="1993392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证书</a:t>
            </a:r>
            <a:endParaRPr lang="en-US" sz="1360" dirty="0"/>
          </a:p>
        </p:txBody>
      </p:sp>
      <p:sp>
        <p:nvSpPr>
          <p:cNvPr id="13" name="Text 11"/>
          <p:cNvSpPr/>
          <p:nvPr/>
        </p:nvSpPr>
        <p:spPr>
          <a:xfrm>
            <a:off x="4645152" y="235915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certs/*.key 不公开、不入库；迁移机器优先重新生成。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8138160" y="1828800"/>
            <a:ext cx="312724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1828800"/>
            <a:ext cx="45720" cy="1024128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9328" y="1993392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日志</a:t>
            </a:r>
            <a:endParaRPr lang="en-US" sz="1360" dirty="0"/>
          </a:p>
        </p:txBody>
      </p:sp>
      <p:sp>
        <p:nvSpPr>
          <p:cNvPr id="17" name="Text 15"/>
          <p:cNvSpPr/>
          <p:nvPr/>
        </p:nvSpPr>
        <p:spPr>
          <a:xfrm>
            <a:off x="8339328" y="235915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公开前扫描 authorization、x-api-key、cookie、个人路径。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1060704" y="4023360"/>
            <a:ext cx="10012680" cy="1005840"/>
          </a:xfrm>
          <a:prstGeom prst="rect">
            <a:avLst/>
          </a:prstGeom>
          <a:solidFill>
            <a:srgbClr val="0E2532"/>
          </a:solidFill>
          <a:ln w="12700">
            <a:solidFill>
              <a:srgbClr val="0E2532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17320" y="433425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公司批量部署建议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429000" y="434340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D7E6E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CA 信任通过 MDM/配置描述文件下发；安装脚本只负责代理、LaunchAgent、工具配置和 smoke test。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30352" y="6419088"/>
            <a:ext cx="11064240" cy="10973"/>
          </a:xfrm>
          <a:prstGeom prst="rect">
            <a:avLst/>
          </a:prstGeom>
          <a:solidFill>
            <a:srgbClr val="D8E2E8"/>
          </a:solidFill>
          <a:ln w="12700">
            <a:solidFill>
              <a:srgbClr val="D8E2E8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651967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and sharing boundary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064240" y="647395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38912"/>
            <a:ext cx="91440" cy="91440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93192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 T A N D A R D I Z A T I O 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标准化交付：一份 PPT、一份技术手册、一份 AI runbook。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49808" y="1901952"/>
            <a:ext cx="324612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901952"/>
            <a:ext cx="45720" cy="1060704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206654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介绍 PPT</a:t>
            </a:r>
            <a:endParaRPr lang="en-US" sz="1360" dirty="0"/>
          </a:p>
        </p:txBody>
      </p:sp>
      <p:sp>
        <p:nvSpPr>
          <p:cNvPr id="9" name="Text 7"/>
          <p:cNvSpPr/>
          <p:nvPr/>
        </p:nvSpPr>
        <p:spPr>
          <a:xfrm>
            <a:off x="950976" y="2432304"/>
            <a:ext cx="2862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说明统一代理优势、架构如何工作、Claude/Codex 如何分别配置。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480560" y="1901952"/>
            <a:ext cx="324612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901952"/>
            <a:ext cx="45720" cy="106070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81728" y="206654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技术手册 Word</a:t>
            </a:r>
            <a:endParaRPr lang="en-US" sz="1360" dirty="0"/>
          </a:p>
        </p:txBody>
      </p:sp>
      <p:sp>
        <p:nvSpPr>
          <p:cNvPr id="13" name="Text 11"/>
          <p:cNvSpPr/>
          <p:nvPr/>
        </p:nvSpPr>
        <p:spPr>
          <a:xfrm>
            <a:off x="4681728" y="2432304"/>
            <a:ext cx="2862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面向人类维护者，覆盖部署、配置、验证、运维、回滚、安全。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8211312" y="1901952"/>
            <a:ext cx="3246120" cy="1060704"/>
          </a:xfrm>
          <a:prstGeom prst="rect">
            <a:avLst/>
          </a:prstGeom>
          <a:solidFill>
            <a:srgbClr val="F7EFE2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11312" y="1901952"/>
            <a:ext cx="45720" cy="1060704"/>
          </a:xfrm>
          <a:prstGeom prst="rect">
            <a:avLst/>
          </a:prstGeom>
          <a:solidFill>
            <a:srgbClr val="D89135"/>
          </a:solidFill>
          <a:ln w="12700">
            <a:solidFill>
              <a:srgbClr val="D8913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206654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Runbook</a:t>
            </a:r>
            <a:endParaRPr lang="en-US" sz="1360" dirty="0"/>
          </a:p>
        </p:txBody>
      </p:sp>
      <p:sp>
        <p:nvSpPr>
          <p:cNvPr id="17" name="Text 15"/>
          <p:cNvSpPr/>
          <p:nvPr/>
        </p:nvSpPr>
        <p:spPr>
          <a:xfrm>
            <a:off x="8412480" y="2432304"/>
            <a:ext cx="2862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面向其他 AI 工具，使用占位符、步骤、检查点和输出格式。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1536192" y="4809744"/>
            <a:ext cx="9144000" cy="310896"/>
          </a:xfrm>
          <a:prstGeom prst="rect">
            <a:avLst/>
          </a:prstGeom>
          <a:solidFill>
            <a:srgbClr val="0E2532"/>
          </a:solidFill>
          <a:ln w="12700">
            <a:solidFill>
              <a:srgbClr val="0E2532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55064" y="4882896"/>
            <a:ext cx="8906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下一步：把远端已验证的合并版 server.js 同步回材料仓库，并补自动 smoke test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30352" y="6419088"/>
            <a:ext cx="11064240" cy="10973"/>
          </a:xfrm>
          <a:prstGeom prst="rect">
            <a:avLst/>
          </a:prstGeom>
          <a:solidFill>
            <a:srgbClr val="D8E2E8"/>
          </a:solidFill>
          <a:ln w="12700">
            <a:solidFill>
              <a:srgbClr val="D8E2E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651967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Deliverables and next standardization step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064240" y="647395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CJ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通过统一代理配置 Claude Code 与 Codex 第三方模型</dc:title>
  <dc:subject>Configure Claude Code and Codex for third-party models through a unified local proxy</dc:subject>
  <dc:creator>CJ / Codex</dc:creator>
  <cp:lastModifiedBy>CJ / Codex</cp:lastModifiedBy>
  <cp:revision>1</cp:revision>
  <dcterms:created xsi:type="dcterms:W3CDTF">2026-05-14T09:04:55Z</dcterms:created>
  <dcterms:modified xsi:type="dcterms:W3CDTF">2026-05-14T09:04:55Z</dcterms:modified>
</cp:coreProperties>
</file>