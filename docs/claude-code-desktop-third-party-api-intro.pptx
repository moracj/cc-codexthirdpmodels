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e69ca7b60e4c47" /><Relationship Type="http://schemas.openxmlformats.org/officeDocument/2006/relationships/extended-properties" Target="/docProps/app.xml" Id="Rabf6b09a52294ceb" /><Relationship Type="http://schemas.openxmlformats.org/officeDocument/2006/relationships/officeDocument" Target="/ppt/presentation.xml" Id="R5674e6b971214f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67ab616bcd4221"/>
  </p:sldMasterIdLst>
  <p:notesMasterIdLst>
    <p:notesMasterId xmlns:r="http://schemas.openxmlformats.org/officeDocument/2006/relationships" r:id="Ref0b8c8bffed47bb"/>
  </p:notesMasterIdLst>
  <p:sldIdLst>
    <p:sldId xmlns:r="http://schemas.openxmlformats.org/officeDocument/2006/relationships" id="256" r:id="R418567c72f9b4da8"/>
    <p:sldId xmlns:r="http://schemas.openxmlformats.org/officeDocument/2006/relationships" id="257" r:id="R666d2ac424b3420f"/>
    <p:sldId xmlns:r="http://schemas.openxmlformats.org/officeDocument/2006/relationships" id="258" r:id="R1fb585600759418d"/>
    <p:sldId xmlns:r="http://schemas.openxmlformats.org/officeDocument/2006/relationships" id="259" r:id="Rdd0c65c3f5774b25"/>
    <p:sldId xmlns:r="http://schemas.openxmlformats.org/officeDocument/2006/relationships" id="260" r:id="R048d883c66fd4fb6"/>
    <p:sldId xmlns:r="http://schemas.openxmlformats.org/officeDocument/2006/relationships" id="261" r:id="R8cd9c78dd68f4783"/>
    <p:sldId xmlns:r="http://schemas.openxmlformats.org/officeDocument/2006/relationships" id="262" r:id="R2b19bc94235e46f3"/>
    <p:sldId xmlns:r="http://schemas.openxmlformats.org/officeDocument/2006/relationships" id="263" r:id="Rdc099ac6c16948ab"/>
    <p:sldId xmlns:r="http://schemas.openxmlformats.org/officeDocument/2006/relationships" id="264" r:id="Rfad512397df74e4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7ab616bcd4221" /><Relationship Type="http://schemas.openxmlformats.org/officeDocument/2006/relationships/theme" Target="/ppt/theme/theme1.xml" Id="R599b44d666b341b6" /><Relationship Type="http://schemas.openxmlformats.org/officeDocument/2006/relationships/notesMaster" Target="/ppt/notesMasters/notesMaster1.xml" Id="Ref0b8c8bffed47bb" /><Relationship Type="http://schemas.openxmlformats.org/officeDocument/2006/relationships/presProps" Target="/ppt/presProps.xml" Id="R87fcd0de2b6d4775" /><Relationship Type="http://schemas.openxmlformats.org/officeDocument/2006/relationships/viewProps" Target="/ppt/viewProps.xml" Id="Rab555cfee3bd41a2" /><Relationship Type="http://schemas.openxmlformats.org/officeDocument/2006/relationships/tableStyles" Target="/ppt/tableStyles.xml" Id="Rb9d650ebec4d4a53" /><Relationship Type="http://schemas.openxmlformats.org/officeDocument/2006/relationships/slide" Target="/ppt/slides/slide1.xml" Id="R418567c72f9b4da8" /><Relationship Type="http://schemas.openxmlformats.org/officeDocument/2006/relationships/slide" Target="/ppt/slides/slide2.xml" Id="R666d2ac424b3420f" /><Relationship Type="http://schemas.openxmlformats.org/officeDocument/2006/relationships/slide" Target="/ppt/slides/slide3.xml" Id="R1fb585600759418d" /><Relationship Type="http://schemas.openxmlformats.org/officeDocument/2006/relationships/slide" Target="/ppt/slides/slide4.xml" Id="Rdd0c65c3f5774b25" /><Relationship Type="http://schemas.openxmlformats.org/officeDocument/2006/relationships/slide" Target="/ppt/slides/slide5.xml" Id="R048d883c66fd4fb6" /><Relationship Type="http://schemas.openxmlformats.org/officeDocument/2006/relationships/slide" Target="/ppt/slides/slide6.xml" Id="R8cd9c78dd68f4783" /><Relationship Type="http://schemas.openxmlformats.org/officeDocument/2006/relationships/slide" Target="/ppt/slides/slide7.xml" Id="R2b19bc94235e46f3" /><Relationship Type="http://schemas.openxmlformats.org/officeDocument/2006/relationships/slide" Target="/ppt/slides/slide8.xml" Id="Rdc099ac6c16948ab" /><Relationship Type="http://schemas.openxmlformats.org/officeDocument/2006/relationships/slide" Target="/ppt/slides/slide9.xml" Id="Rfad512397df74e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08f0a127329464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6a267dfb51d4d8e" /><Relationship Type="http://schemas.openxmlformats.org/officeDocument/2006/relationships/notesMaster" Target="/ppt/notesMasters/notesMaster1.xml" Id="Re35d34cefe264c0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11078c5c3f4790" /><Relationship Type="http://schemas.openxmlformats.org/officeDocument/2006/relationships/notesMaster" Target="/ppt/notesMasters/notesMaster1.xml" Id="Rd3039536e06b4cb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0a956d69dc043f8" /><Relationship Type="http://schemas.openxmlformats.org/officeDocument/2006/relationships/notesMaster" Target="/ppt/notesMasters/notesMaster1.xml" Id="R30ec8ef5cf9d40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eb11e661f34aee" /><Relationship Type="http://schemas.openxmlformats.org/officeDocument/2006/relationships/notesMaster" Target="/ppt/notesMasters/notesMaster1.xml" Id="Re93d565f315b45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64c7c353a8047ee" /><Relationship Type="http://schemas.openxmlformats.org/officeDocument/2006/relationships/notesMaster" Target="/ppt/notesMasters/notesMaster1.xml" Id="R5b6721f94d904c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735441aea14367" /><Relationship Type="http://schemas.openxmlformats.org/officeDocument/2006/relationships/notesMaster" Target="/ppt/notesMasters/notesMaster1.xml" Id="R5c5f0a71e9f94c1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03ca73a23b40a6" /><Relationship Type="http://schemas.openxmlformats.org/officeDocument/2006/relationships/notesMaster" Target="/ppt/notesMasters/notesMaster1.xml" Id="R5db5db97f3be403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d5796c1de848bd" /><Relationship Type="http://schemas.openxmlformats.org/officeDocument/2006/relationships/notesMaster" Target="/ppt/notesMasters/notesMaster1.xml" Id="R6d5a5b06931244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8a346d8a0240d0" /><Relationship Type="http://schemas.openxmlformats.org/officeDocument/2006/relationships/notesMaster" Target="/ppt/notesMasters/notesMaster1.xml" Id="R06048094fd82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316c690514421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1574a93692e43cd" /><Relationship Type="http://schemas.openxmlformats.org/officeDocument/2006/relationships/slideLayout" Target="/ppt/slideLayouts/slideLayout2.xml" Id="R07d1065cc8a045a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d1065cc8a045a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451a77f5244fea" /><Relationship Type="http://schemas.openxmlformats.org/officeDocument/2006/relationships/notesSlide" Target="/ppt/notesSlides/notesSlide1.xml" Id="R4ac5f809177f421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025f20389c24b2d" /><Relationship Type="http://schemas.openxmlformats.org/officeDocument/2006/relationships/notesSlide" Target="/ppt/notesSlides/notesSlide2.xml" Id="R79519c456cc2405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410f6e3eb34990" /><Relationship Type="http://schemas.openxmlformats.org/officeDocument/2006/relationships/notesSlide" Target="/ppt/notesSlides/notesSlide3.xml" Id="R14dcdaef8ad040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e695f77f1846e3" /><Relationship Type="http://schemas.openxmlformats.org/officeDocument/2006/relationships/notesSlide" Target="/ppt/notesSlides/notesSlide4.xml" Id="Re2c10471ae2d48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66bbd5f5495441b" /><Relationship Type="http://schemas.openxmlformats.org/officeDocument/2006/relationships/notesSlide" Target="/ppt/notesSlides/notesSlide5.xml" Id="Ra843d3d76004460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bb3403e89d49bb" /><Relationship Type="http://schemas.openxmlformats.org/officeDocument/2006/relationships/notesSlide" Target="/ppt/notesSlides/notesSlide6.xml" Id="R1e52dccb712a4cd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821b3cbaad4ca7" /><Relationship Type="http://schemas.openxmlformats.org/officeDocument/2006/relationships/notesSlide" Target="/ppt/notesSlides/notesSlide7.xml" Id="R68cbf9c30945410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d2aed443d94a82" /><Relationship Type="http://schemas.openxmlformats.org/officeDocument/2006/relationships/notesSlide" Target="/ppt/notesSlides/notesSlide8.xml" Id="Rf31b1387edd640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8422f5a45c844e3" /><Relationship Type="http://schemas.openxmlformats.org/officeDocument/2006/relationships/notesSlide" Target="/ppt/notesSlides/notesSlide9.xml" Id="R3989e41974dd429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D9BF21-C2D5-49EF-B355-204ED227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307A4-1CD6-4B78-BF31-B8A84202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83FE44-794C-4EE1-86EE-B74AE735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41B6F2-42DA-4E06-A7D4-FCBE023E6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4350"/>
            <a:ext cx="400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Claude Code Desktop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FA2365-B59D-4E13-9AD0-4A6B27AAC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19250"/>
            <a:ext cx="72390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39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第三方 API 接入复盘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91073-49FA-4E2F-B74E-0DBCDE67C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67050"/>
            <a:ext cx="666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35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本机 HTTPS 代理 + macOS 证书信任 + Claude 槽位映射，解决 CLI 可用但 App / Cowork 不稳定的问题。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040711-2777-48E5-B537-9CF23063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9636FE-719D-4E57-B566-7DABDA50A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191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CBD6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A7CBD6"/>
                </a:solidFill>
                <a:latin typeface="PingFang SC"/>
                <a:ea typeface="PingFang SC"/>
                <a:cs typeface="PingFang SC"/>
              </a:rPr>
              <a:t>最终链路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10DA6D-5602-46E8-8C1E-5B14AEE4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09700"/>
            <a:ext cx="27813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Desktop / Code / Cowork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统一进本机 HTTPS 代理</a:t>
            </a:r>
          </a:p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9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再转发到 Ark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5B6A7-7535-4DA8-8FAA-802AAFAD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57550"/>
            <a:ext cx="247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36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8AAC61-156E-4E1F-9197-9A194F1D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581400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8D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7D8DF"/>
                </a:solidFill>
                <a:latin typeface="PingFang SC"/>
                <a:ea typeface="PingFang SC"/>
                <a:cs typeface="PingFang SC"/>
              </a:rPr>
              <a:t>2026-05-14</a:t>
            </a:r>
          </a:p>
          <a:p xmlns:a="http://schemas.openxmlformats.org/drawingml/2006/main">
            <a:pPr algn="l">
              <a:defRPr sz="1050" b="0">
                <a:solidFill>
                  <a:srgbClr val="C7D8DF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C7D8DF"/>
                </a:solidFill>
                <a:latin typeface="PingFang SC"/>
                <a:ea typeface="PingFang SC"/>
                <a:cs typeface="PingFang SC"/>
              </a:rPr>
              <a:t>可分享版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E371E-7119-4AAD-861C-71871EF8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D09F7F-82C1-44A3-90AD-C1ABDF4E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9B8B3-9A12-4238-B901-464E1856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入口统一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DFAC5D-221B-4C70-90AA-A7C707D5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Desktop / CLI 同源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7E6F5E-4990-426A-AAE8-66CF5E1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339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6809A7-B80C-422C-A828-09B613C9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895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CF9C1E-6D87-4622-8910-0AA374C4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276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证书可信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589131-5E19-47A0-A4AE-84A7EF02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5448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Keychain + launcher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A53806-FFD0-4F45-A76D-60326FFC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933950"/>
            <a:ext cx="190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1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1B82F5-98AE-41C6-8159-1C8B0A4D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895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1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E33999-A20F-4CF3-B159-677F8563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2768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槽位映射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585D4B-3FAC-4922-A5B6-19FA8766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44830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1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Claude 名称保留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B2333C-A70C-49C6-B37E-F3C7CD05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3AFB9E3-B965-47BD-9021-364E0C95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Claude Code Desktop third-party inference sharing deck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83FED3-6BC9-43DA-AA90-007AB463A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0114331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00B7CF9-3F9D-4578-84CF-A8FC39238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B930D6-C72F-40D8-970E-2B177516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87EB6-6B4B-41E6-9103-3A1E5368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P R O B L E 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359D1-70DF-411A-B1ED-A2370572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CLI 可用，不等于 Desktop 全部可用。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6BC882-EF6C-48E8-97ED-A7F3D5D8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429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这次问题不是单点 API 故障，而是 Desktop 新架构下的多层调用链差异。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55DE46-3420-460C-A050-9335E008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4D7A7A-4E8A-4F8F-904E-BAAF8D9EA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051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Desktop 3P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4B488D-7F30-4380-8955-2AFC4CCE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7660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Electron 网络栈</a:t>
            </a:r>
          </a:p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读取 configLibrary</a:t>
            </a:r>
          </a:p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要求 HTTPS + 可信证书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38950A-69BE-4DBE-BC66-CEC0A7720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386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A27726-CC90-48C6-81F0-27E820CD8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配置层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1DF509-9AC8-41C6-B51E-39AAF7A1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4574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BC9340-D54B-45DE-BD0A-9AE443068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051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Code host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D8070E-BD10-495E-9066-92FA9D1A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7660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调用本地 Claude Code binary</a:t>
            </a:r>
          </a:p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读取 ~/.claude/settings.json</a:t>
            </a:r>
          </a:p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版本目录由 Desktop 决定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0007A-6946-488F-BCB5-7BD12ACE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D30756-12E7-4E71-A2B9-074B396B8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514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执行层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83F44C-AE9C-495F-BEEF-DB991EC9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45745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7F235-97A2-458C-9BF1-6AE52D3AF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0510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Cowork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D3ECC1-103D-4AD9-B811-C17E0EC4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22669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host loop / VM 侧调用</a:t>
            </a:r>
          </a:p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环境变量继承不完整</a:t>
            </a:r>
          </a:p>
          <a:p xmlns:a="http://schemas.openxmlformats.org/drawingml/2006/main">
            <a:pPr algn="l">
              <a:def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证书失败会表现成 server busy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DD3D61-26B0-49A5-9EED-0315B22D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438650"/>
            <a:ext cx="1066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1103E-C350-4679-821F-FB0AE4F9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51485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协作层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186D23-1F37-4811-8AAD-B2A39E46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914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5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判断原则：日志比 UI 文案更可信，代理日志比“模型名称显示”更可信。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152523-3E10-4C76-BF65-3F1C3085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E081EA-4D81-4336-9C8D-0413AB3B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Problem framing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A26283D-A134-430D-844E-47CC93DB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7627417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7A63F7-64F8-4622-B92A-508D807CB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97FEE-9C84-4CC7-9010-7260FF7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D18B2-822B-474E-8F50-E159A978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A R C H I T E C T U R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34F95-63E3-4475-973E-D8E47E202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76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实现逻辑：所有入口先收敛，再做兼容。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A33254-CDC7-4904-9884-69113C58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不要让 Desktop、CLI、Cowork 各自直连上游；入口越分散，证书和模型映射越难排障。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6296F-168E-4AA5-8B87-A3667A9B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53F293-8859-43F7-AA3A-DC46BF55B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0507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Desktop 3P UI</a:t>
            </a:r>
          </a:p>
          <a:p xmlns:a="http://schemas.openxmlformats.org/drawingml/2006/main">
            <a:pPr algn="l">
              <a:defRPr sz="975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configLibrary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09E3D0-F405-4383-A51F-7EAFA543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6479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023D1A-838A-4BFC-9F72-B8EBA83E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5431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581892-C462-42C1-B981-F05E0BB3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D6863F-E7B9-4629-937E-A2D4EE2D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80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Code host</a:t>
            </a:r>
          </a:p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~/.claude/settings.json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2E424-FE82-44A9-B16A-CF7C6C97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39090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CC9F5B-EDE0-4621-9E9E-5CD7415D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2861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455263-20B4-4BC4-ABD1-98B2DDC7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5A751-8B2F-47F5-8624-29F39198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9097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Cowork</a:t>
            </a:r>
          </a:p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claude-ca-launcher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54C33-B939-4998-8195-AE4F938F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13385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B1F6D-DEEC-44DF-8C17-7CBD7594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0290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FD9011-F8C9-42DD-A3E9-A6F2B9CC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2381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7FBAC4-383E-4F9E-BD1D-E3C53D28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2076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CLI</a:t>
            </a:r>
          </a:p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env only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DD60FD-E010-4254-9F89-FD1CA34F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876800"/>
            <a:ext cx="7524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1A738D-F398-4B91-B6CC-F73B19E39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7720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6D6938-2605-4C1E-8B0E-EE2FF69F7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24765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DEE465-A59B-43DF-925A-B168E00F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14650"/>
            <a:ext cx="22669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Local HTTPS proxy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7C14C-117F-41E2-A17D-D71AEA03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43300"/>
            <a:ext cx="1981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rPr>
              <a:t>https://127.0.0.1:38443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rPr>
              <a:t>TLS server cert</a:t>
            </a:r>
          </a:p>
          <a:p xmlns:a="http://schemas.openxmlformats.org/drawingml/2006/main">
            <a:pPr algn="l">
              <a:def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rPr>
              <a:t>model rewrite</a:t>
            </a:r>
          </a:p>
          <a:p xmlns:a="http://schemas.openxmlformats.org/drawingml/2006/main">
            <a:pPr algn="l">
              <a:def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D5E7ED"/>
                </a:solidFill>
                <a:latin typeface="PingFang SC"/>
                <a:ea typeface="PingFang SC"/>
                <a:cs typeface="PingFang SC"/>
              </a:rPr>
              <a:t>header passthrough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AED211-42E0-463D-A670-CEDC6DA36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895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B865F7-910D-4960-BF99-9E3225ECB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7187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D8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9D8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CE57C5-17B9-475E-ABE7-21E5FEAF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81300"/>
            <a:ext cx="285750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FE31F5-5304-48E0-BC65-19E1DAD7B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095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Ark coding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4129AC-35CD-46E4-A66E-B639553F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63855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https://ark.cn-beijing.volces.com/api/coding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Anthropic-compatible protocol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D296368-08F8-4F99-9AA9-986775D3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28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B9181C-BAE1-415E-918D-1AD4425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6477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模型显示名留在 Claude 槽位，真实上游模型只在代理里出现。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1A24FE-008C-4E12-A522-F215A1A7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F6E621-CF1A-43CE-B347-B352B3A5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Implementation diagram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5182972-7F29-4F65-9687-73BE02B74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6666975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D8944F-C4F4-4280-B138-CD25486F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BDBCD-2268-4FA3-AC18-47A2EEC8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AE2035-D61B-4CDE-AA82-0D52180AE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 E R T I F I C A T 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D2C7DC-6DCD-4082-B548-E09BD6D60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macOS 上的关键动作：让证书被系统信任。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A9CF2-C14C-4F2B-BEC3-63AAB459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857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只让 CLI 信任 CA 不够；Desktop 的 Electron 网络栈和 Cowork host loop 也要能建立可信链。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6819E8-5F5D-4AAA-98F3-3D6AF819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198B40-F9E2-446B-8F10-F47F140E4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314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本地 CA</a:t>
            </a:r>
          </a:p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ca.crt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859A2B-8852-455D-8B1E-511EBA56F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242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57317-BCEF-4CC4-A0CB-9A80682A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194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0F7508-600B-44D9-AE74-C530BE47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1809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DF6CD-D936-4F8B-9346-2BA8A3BE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76550"/>
            <a:ext cx="1504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Keychain</a:t>
            </a:r>
          </a:p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SSL trust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251C35-2AC3-4374-82CF-AD5E6624A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242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F91447-2A10-414F-980D-A19D817F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194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D3A394-A463-4391-BA72-B47218C1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F9302-D281-4704-AAD8-F64FF91F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193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Electron</a:t>
            </a:r>
          </a:p>
          <a:p xmlns:a="http://schemas.openxmlformats.org/drawingml/2006/main">
            <a:pPr algn="l">
              <a:def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Desktop 3P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60F17-F904-47CA-88C7-B44FD41A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257550"/>
            <a:ext cx="1809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52570-1532-44F9-8DA6-28D3260EB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09950"/>
            <a:ext cx="15049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host loop</a:t>
            </a:r>
          </a:p>
          <a:p xmlns:a="http://schemas.openxmlformats.org/drawingml/2006/main">
            <a:pPr algn="l">
              <a:def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Cowork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04AB7-E919-4E83-B222-A6E5A207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12420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5861A9-E38F-4C83-9CE8-67B50243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19425"/>
            <a:ext cx="19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A9D8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>
                <a:solidFill>
                  <a:srgbClr val="2A9D8F"/>
                </a:solidFill>
                <a:latin typeface="Avenir Next"/>
                <a:ea typeface="Avenir Next"/>
                <a:cs typeface="Avenir Next"/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2D786-6795-48C0-8361-6604F813D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724150"/>
            <a:ext cx="1428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55E37E-98CD-4C5C-AB89-B44123819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76550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Local proxy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HTTPS OK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F01A0DF-650F-4690-888C-236D6FA6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9525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FE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879437-5600-4113-998D-FEBE3344A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14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89135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D89135"/>
                </a:solidFill>
                <a:latin typeface="PingFang SC"/>
                <a:ea typeface="PingFang SC"/>
                <a:cs typeface="PingFang SC"/>
              </a:rPr>
              <a:t>SSH 限制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7AC36-49A3-482F-A5CD-9908038E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895850"/>
            <a:ext cx="742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远程 SSH 下写 System keychain 可能被 macOS 授权拦截；需要目标 Mac 本机交互式 sudo，或由 MDM / 配置描述文件下发。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BE6FD-E95A-407B-8EC7-FFAD0FD9C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CBBF82C-AE30-4D5B-BD2F-16D2DE2DA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macOS certificate trust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7A496-72D8-4A50-9CDE-8D83455C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7437639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D8A3AB5-32B6-4D88-A6A2-3B695004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9552A-9CA8-44DF-BA50-1348F8AAE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3C5F5D-FD80-4F10-AFD7-D5A1ED29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M O D E L   M A P P I N 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574819-3CE4-4B4E-8F6A-18B7060BA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33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模型槽位保留 Claude 名称，代理再改写。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A196D7-3C99-4B95-95FE-D5D90336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7810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这样 App 的模型选择、CLI 的默认槽位、上游真实模型三者不会互相覆盖。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58DF9A-AF12-4450-8473-7D5D5351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2000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473D97-0F93-464D-BBC9-6F82400C1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180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槽位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0DF2C8-D100-4F3C-9249-83EF96C2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4574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7B03A-E52B-4B1B-8B90-A275DD225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33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App/CLI 发送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FF183-96E7-4400-B2BD-9942EA401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5745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2D5EA-F17F-45E7-ABB6-98EBFEB7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33650"/>
            <a:ext cx="266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代理转发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5E023D-D0A9-4311-A728-06B85E7FD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4574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23A4C8-1C2E-40B4-B18A-A74FD330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5336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说明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573EB1-5E5A-4A50-9AF1-88A15F385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16C91-9DAE-49F1-A4C3-73167E66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Opus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2A4023-4F1F-4032-AB66-F5A19390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956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B66AC-094F-41DD-B5B9-79F00E8E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718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claude-opus-4-6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53F0E6-9B97-4FD8-9F0F-96328760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8956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710EA2-D2FC-4FBC-8A1B-09454584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718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glm-5.1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E96C4-E255-4012-911D-8A3721CE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956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00A14C-F65D-43C7-814A-C715913C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71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大模型槽位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D07499-3E75-4B99-8F6E-FC654653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FE522F-5275-42C2-B861-5BDE0B6F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242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Sonnet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FF223-15C5-4CE0-990F-920DE372E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4480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70509C-CFEE-4CE2-BFAC-0E5A87F44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242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claude-sonnet-4-6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F18573-9AB6-4242-BDEC-F9A62D3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480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90F54-D684-4628-B2AE-025C5348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kimi-k2.6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361D66-5A75-4D2F-B095-7844FFFE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4480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9404DB-78E7-404B-97F9-47E5B2A7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242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默认/中模型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6E3D02A-3821-47B9-BB36-FF847312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200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E6638-BC93-4086-ACAC-21F4D8AB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76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Haiku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01FF0D-8DE1-4E8F-87ED-E670AD586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000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5D3DD30-96B7-4E30-B96A-4C2A1A7E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767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claude-haiku-4-5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8125E8-A251-4295-A503-01740F42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005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923106E-0BEA-47AE-A74C-7EB411E7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076700"/>
            <a:ext cx="266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doubao-seed-2.0-pro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D89E81-F526-4E12-B254-0322045C6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0005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7EFEEF5-4E46-443E-9F16-AC515B16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76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7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小模型槽位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A804CA-074D-4508-B61E-3A3BEA25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9525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24BB120-9FE5-4B50-B436-7AE7D437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10150"/>
            <a:ext cx="590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275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不要保留 ANTHROPIC_MODEL，也不要再叠加 modelOverrides。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F9E7485-5602-4495-8CBD-E629683C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57800"/>
            <a:ext cx="723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否则 App 里选 Sonnet / Haiku，实际也可能被强制打到同一个模型。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C9A944-4A8D-4254-9709-CCBB61C9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45CA683-F613-4267-A5D8-96E0CCDF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Slot mapping policy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6BFE6A-FB6C-47E8-9FEE-A34B4DCE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9309287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BF7705B-C2F4-42EC-B373-EE4ADFE0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21138B-F74C-4148-BDE7-975A6555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581EB2-0D51-4317-8689-6D17836D4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R U N B O O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4A4E29-827F-45DE-9D61-B48D9F80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04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macOS 配置顺序要固定，排障才会收敛。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78F022-B9BB-4CE5-8914-3BFB347E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DB9BC3-CF05-4004-AF12-396B6840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6432F-303A-447C-BFEF-99390FCC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代理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27D5F0-E861-44E2-8E37-8850A8F3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8100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启动 127.0.0.1:38443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74652E-1AD7-4496-B3C3-9DB616B4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956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9A59C-DC43-49D2-8368-C5B169CB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90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B65E77-2FF1-4611-9312-246A19BA0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5146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DE785E-D349-41EA-96D4-3A76CE07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1940C8-A0B6-4852-9BC0-B1507B64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052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证书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EFC7F-D054-4ED3-8FE4-62D93464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CA 写入 Keychain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26C456-6669-4F02-A14F-1A00CAA8F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8956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6DDCB-5892-4E98-BA69-3D8CF857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90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162C93-3A99-4C02-B78C-C45803A3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146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607CD-638D-478A-968B-B74DCA1C7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DC0E5E-B251-418E-A4BA-CA79A462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Desktop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3853C-8BFC-4852-9D50-CD9FB5FB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100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配置 third-party inference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E59EF-CF96-4B05-88E5-059EAE26B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956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2303F2-3E1A-4C69-8EF9-F89136D66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90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8BE08-CEC3-4FFC-9CE5-8E1C56F7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5B6FDD3-6221-405D-8F3D-80D0BCE2A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E152633-47A9-4213-9505-0E6A522C4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CLI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3E8A68-FC15-4943-8B2D-01EFE57A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100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settings 只保留 env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06F7F-2C88-4725-8E32-57BA0719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956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75A8E1-BEAB-4110-A1D5-3BBDC0D4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90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0289BE-56EA-4E61-A490-AA4FD0F9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146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B9B6166-A576-4CB5-95C9-5D781BEEC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80198D-537A-48F0-80D0-3B4296F8A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052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Host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4E71A8A-F034-474A-86A4-ECBC5A6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100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按日志版本建 .verified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2A3B6A-E180-4D02-90DF-E7EB94C9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956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AB410C-674A-40F8-9446-311B85C4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90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E4C18E-4BB3-478F-91B9-638F49BF9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146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A7BF03-A2D5-42B7-87C8-7FA9B131B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A03E735-D559-4C2C-8769-28C4E306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Cowork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64C832-F664-45FC-A4C1-C88094A6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100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必要时使用 launcher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8798A3-28C0-47E1-A706-55F2D696F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95600"/>
            <a:ext cx="457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7D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078541-08E3-453B-B2B5-6ACDD0F9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90825"/>
            <a:ext cx="171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B7C7D1"/>
                </a:solidFill>
                <a:latin typeface="PingFang SC"/>
                <a:ea typeface="PingFang SC"/>
                <a:cs typeface="PingFang SC"/>
              </a:rPr>
              <a:t>&gt;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AEB9AD-23AE-4361-886E-5BE908FEF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514600"/>
            <a:ext cx="7810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B23CB22-74D7-4BA6-B97A-129C48F3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361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3A96AE9-9D20-4679-A11C-66C40C26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05200"/>
            <a:ext cx="1123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验证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2EF5D6F-F4C0-4919-AEFB-5B1A069C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810000"/>
            <a:ext cx="1314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看 health / main.log / proxy.log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481D9B0-1E3D-4ACF-B7A1-7E54FE2FC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9700"/>
            <a:ext cx="9334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35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顺序错了会出现“每层看起来都像问题”的假象；固定顺序能把问题定位到证书、模型、host 或网络下载。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E2CF388-FC3A-4A65-841C-E143A343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B197DF-98F7-4AA1-9821-1A271574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macOS setup order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7C1AB7-33A1-48FD-A116-8C98FB4F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45011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9EFEDD-B264-4228-A3F1-B3F24F9AD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DB3870-ED17-4F0A-AC8B-0DCA6C39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970EF7-769F-40C1-B2FC-7FFD7B3E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 O W O R 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FA552-421D-4793-B743-F32B5197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9525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55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Cowork 的关键不是换模型，而是让 host loop 信任 CA。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9D7EEE-E7A1-40A2-88CF-36B5B9919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76400"/>
            <a:ext cx="9144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12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Code 可以对话、Cowork 显示 server is busy 时，真正错误可能是 SSL certificate verification failed。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7C1B25-AAB8-4126-ACAD-E0F20F1F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F2"/>
          </a:solidFill>
          <a:ln xmlns:a="http://schemas.openxmlformats.org/drawingml/2006/main" w="0"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EE8AB-1922-4E0C-B899-554A8DCC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94A4A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C94A4A"/>
                </a:solidFill>
                <a:latin typeface="Avenir Next"/>
                <a:ea typeface="Avenir Next"/>
                <a:cs typeface="Avenir Next"/>
              </a:rPr>
              <a:t>Before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717F9E-E2CF-4C51-9199-4F0920AC8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Cowork -&gt; host loop -&gt; proxy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环境变量继承不完整</a:t>
            </a:r>
          </a:p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NODE_EXTRA_CA_CERTS 不可靠</a:t>
            </a:r>
          </a:p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UI 只显示 server is busy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4FD476-CF0B-4CED-A9FF-0F103B21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574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9CE816-22FB-436E-AEED-5055E71A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24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A9D8F"/>
                </a:solidFill>
                <a:latin typeface="Avenir Next"/>
                <a:ea typeface="Avenir Next"/>
                <a:cs typeface="Avenir Next"/>
              </a:defRPr>
            </a:pPr>
            <a:r>
              <a:rPr sz="1500" b="1">
                <a:solidFill>
                  <a:srgbClr val="2A9D8F"/>
                </a:solidFill>
                <a:latin typeface="Avenir Next"/>
                <a:ea typeface="Avenir Next"/>
                <a:cs typeface="Avenir Next"/>
              </a:rPr>
              <a:t>After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28652F-B5CA-4B2D-8434-6CB26EB6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19450"/>
            <a:ext cx="37147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host binary -&gt; claude-ca-launcher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强制注入：</a:t>
            </a:r>
          </a:p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NODE_USE_SYSTEM_CA=1</a:t>
            </a:r>
          </a:p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NODE_EXTRA_CA_CERTS=/path/to/ca.crt</a:t>
            </a:r>
          </a:p>
          <a:p xmlns:a="http://schemas.openxmlformats.org/drawingml/2006/main">
            <a:pPr algn="l">
              <a:def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125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SSL_CERT_FILE=/path/to/ca.crt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7547AF-87BE-4994-97B0-99EAB5882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5219700"/>
            <a:ext cx="7239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937CFD-D01A-4E4A-A73C-E6E96912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72100"/>
            <a:ext cx="69342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.verified + 正确版本目录</a:t>
            </a:r>
          </a:p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防止 Desktop repair 清空手工 binary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E7E089-51FB-4AF0-9C9C-E9BC5830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CFE39D-2DEB-4B91-B7F8-39BA5A49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Cowork certificate fix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32E36-B6CF-41ED-990D-DB9EEAD74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9085758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0CC81E-3F50-4C76-B8CB-3E4721BC3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A314A-2E3B-4385-8EDB-A72C07D83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3C948-E943-44AC-8FFB-00036CDD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F A I L U R E   P A T H 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334976-B84E-4ED7-B47F-4AE4D7DE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8572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失败路径也有价值：它们定义了边界。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375CA-FD4D-468D-A66C-2E12DB59B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095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A2AB3-B91A-4C3A-8246-7E5FD233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43150"/>
            <a:ext cx="190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失败路径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CE9C6B-768A-4EEF-9543-95F9E99B1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669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D321C-28CB-4DBD-84DD-ADFCD7BD0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表象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54127-CD5C-4E23-9FB8-D823BDE2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4095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057BE-D31B-4C75-B214-945768A5C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3431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正确处理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D9B2CA-4C91-4421-8A21-E712CAE3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6287C8-D425-4926-B72E-F5A1B5A3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432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Desktop 直连 Ark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A12315-31F0-44F7-837C-98EDB482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7C6F7A-82EB-48BC-82A9-93FF4C9A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432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CLI 可用但 App 503/证书错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0949D-BF14-4331-8B3B-CCE1F4611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6670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6C303-6AAC-42FD-BA46-76F974F7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7432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改为本机 HTTPS 代理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3218FC-5870-45CD-A4EF-61DB9B41A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80DB73-4697-48A2-B16D-4A3A2BF7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147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只配 CLI CA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52D6DA-AEE1-4F4F-8B6A-06A84EAE7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385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B72A8A-6505-4CF9-898C-5EDF3AD5E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3147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Desktop 仍报 cert authority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2A69D-EA58-406B-9B18-BA046A87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2385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86D6C2-338E-4CDA-A01E-290EFA9CD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3147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CA 加入 Keychain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B618E-FCDA-4C06-87A7-1E43AA914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BEE7BD-CEDE-4092-892B-E0BE3302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保留 ANTHROPIC_MODEL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DE4952-E03B-498A-8F73-BF200111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8100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01751D-2EA1-409F-B9E0-E9C20E0F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862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选择槽位后仍被覆盖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960159-0F46-4739-BEFF-34AE2AF5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8100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BF987-6779-452B-B618-A20371078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删除强制模型变量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9F586C-80DF-4261-9B24-4EBB13D9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761E89-021F-4A5B-934C-9E83302A8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577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无 .verified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93C64E-9099-43DC-86B8-9F7426B2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815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79C186-E849-4C88-8D2B-35204BFE4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4577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host 目录被 repair 清空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2CEEDD-BD35-4560-B709-4EAD92D9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3815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0"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26D34EC-6028-424A-A322-B9A4FC34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4577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先 touch .verified 再放 binary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4022E6-518F-4C11-98DF-5ED0FEB0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EB9846-0034-4414-A28C-EAE634EF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29200"/>
            <a:ext cx="1905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downloads 超时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0273C7E-45CA-4DE5-B3FC-8A2F90931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3AACD50-1152-43BC-A9EE-915240EE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029200"/>
            <a:ext cx="266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VM boot / bash proxy 失败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7412FF-0844-451A-A01E-EDCBA7E3C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953000"/>
            <a:ext cx="4095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0163407-0EFC-42A1-8C7E-7509E412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029200"/>
            <a:ext cx="3905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900" b="0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网络白名单、代理或离线缓存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4CC26B8-F432-4889-B77C-FAF1E01F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D5D1D4-2DEC-43D3-9B3D-36327A2D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753100"/>
            <a:ext cx="7239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76B87"/>
                </a:solidFill>
                <a:latin typeface="PingFang SC"/>
                <a:ea typeface="PingFang SC"/>
                <a:cs typeface="PingFang SC"/>
              </a:rPr>
              <a:t>判断优先级：proxy log 200 &gt; Desktop health healthy &gt; UI 模型显示。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66DB3EE-6A2A-4464-972D-B03B1EC0B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A3A044-AC55-403D-95DC-A0CAB6C13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Known failure modes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93BE6E4-5C69-432C-A545-D23E24BD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16999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A69D31-1C72-421F-9C6E-49F8B03D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1B48D8-E67F-425B-BD95-16BC0D16D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6B8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1B171-EAA2-4E46-86D9-67C7A0426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713" b="1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V E R I F I C A T I O 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B4E236-DA70-4775-AF4E-DF39733F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0010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defRPr>
            </a:pPr>
            <a:r>
              <a:rPr sz="2700" b="1">
                <a:solidFill>
                  <a:srgbClr val="10202A"/>
                </a:solidFill>
                <a:latin typeface="Avenir Next"/>
                <a:ea typeface="Avenir Next"/>
                <a:cs typeface="Avenir Next"/>
              </a:rPr>
              <a:t>验收只看四类信号。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94D34-FC7C-4D4B-B7D4-2F74EB9B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81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459729-A2EB-4D47-8C0D-4EA7F53B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C4C0A7-3BDE-4408-86F4-BDDC3D068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955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health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239F28-681B-4199-913E-54B41D8E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3431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curl https://127.0.0.1:38443/health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2C177-D15F-4F8A-8196-C442ADAC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479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系统信任后不带 --cacert 也成功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79341-07B9-4E6E-B021-FF28C87C3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71800"/>
            <a:ext cx="81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53CAE1-5234-498E-B104-641CE9AC3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670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197A3B-BCEC-4E95-84EF-DD0B08482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9908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Desktop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68D69-3FC4-44A3-BCDD-874D9104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2385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ConfigHealth recomputed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62080A-679E-461F-8B07-49ECFDF19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432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state: healthy / provider: gateway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47E4BA-3C38-4EC2-9B2C-CA75D80E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67150"/>
            <a:ext cx="81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823F7A-2E08-42FF-84C7-9FDC42EA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614532-5C90-4765-9D1E-FC193F58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8620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proxy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50253-E1F3-4E04-AE56-B50A701C4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3385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POST /v1/messages -&gt; 200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DB2B2C-6D00-4184-85CF-1324C8DA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3860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模型映射日志能看到真实上游模型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CE42EA-CB0B-46E1-B3C1-5E96A5E52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62500"/>
            <a:ext cx="81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3526B-41C5-41E9-8A98-91511081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400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6B87"/>
                </a:solidFill>
                <a:latin typeface="Avenir Next"/>
                <a:ea typeface="Avenir Next"/>
                <a:cs typeface="Avenir Next"/>
              </a:defRPr>
            </a:pPr>
            <a:r>
              <a:rPr sz="1800" b="1">
                <a:solidFill>
                  <a:srgbClr val="176B87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CC3060-00DF-47B5-8111-362C581D3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781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20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Cowork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00CD771-66F4-4656-937C-0FFAF047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0292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极简环境调用 launcher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F5BAB8-C8BE-4E9D-B1DC-43E4FA4A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933950"/>
            <a:ext cx="409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0202A"/>
                </a:solidFill>
                <a:latin typeface="PingFang SC"/>
                <a:ea typeface="PingFang SC"/>
                <a:cs typeface="PingFang SC"/>
              </a:rPr>
              <a:t>能回复 ok，不再报 SSL certificate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D3CB86-01A2-4E96-8442-AB49E1426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34050"/>
            <a:ext cx="8858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532"/>
          </a:solidFill>
          <a:ln xmlns:a="http://schemas.openxmlformats.org/drawingml/2006/main" w="0"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8AB3C1-9045-4A2D-AF11-2CBE5F4A2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886450"/>
            <a:ext cx="855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可复用原则：先统一入口，再处理证书，再做模型映射，最后处理 host/Cowork 特例。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C6BB5C-A3E1-42FF-B007-98BD1AB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41C0A0-780B-4C9D-87D2-65A0ADAF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809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defRPr>
            </a:pPr>
            <a:r>
              <a:rPr sz="600" b="0">
                <a:solidFill>
                  <a:srgbClr val="60717E"/>
                </a:solidFill>
                <a:latin typeface="PingFang SC"/>
                <a:ea typeface="PingFang SC"/>
                <a:cs typeface="PingFang SC"/>
              </a:rPr>
              <a:t>Verification checklist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53DF9C-2E80-425B-AC98-1EE221B5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496050"/>
            <a:ext cx="4572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defRPr>
            </a:pPr>
            <a:r>
              <a:rPr sz="900" b="1">
                <a:solidFill>
                  <a:srgbClr val="60717E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42207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2026-05-14T05:55:59.1710000Z</dcterms:created>
  <dcterms:modified xsi:type="dcterms:W3CDTF">2026-05-14T05:55:59.1710000Z</dcterms:modified>
</coreProperties>
</file>